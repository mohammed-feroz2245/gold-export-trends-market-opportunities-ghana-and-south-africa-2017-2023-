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ebp" ContentType="image/webp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0" r:id="rId1"/>
  </p:sldMasterIdLst>
  <p:notesMasterIdLst>
    <p:notesMasterId r:id="rId26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57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99E81F1-E2B0-5295-E787-8A25B328A5AB}" v="4381" dt="2025-01-18T09:34:38.015"/>
    <p1510:client id="{753CAF2D-8780-D0DB-8734-2BEE78EEBAAF}" v="271" dt="2025-01-18T00:03:44.794"/>
    <p1510:client id="{BD2AF6F3-DEE8-B88D-FD9F-711A6839DB97}" v="349" dt="2025-01-19T16:17:06.919"/>
    <p1510:client id="{CF7DF9A7-D499-8109-1AEE-5D4B9E97C6AA}" v="15" dt="2025-01-17T22:40:52.467"/>
    <p1510:client id="{F26B6C41-225A-482C-EE50-6B3E6D75F709}" v="8" dt="2025-01-19T15:51:25.84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a Fernández Vega" userId="S::ana.fernandez@ue-germany.de::190000d8-0631-4794-8ed3-d3e50ad80456" providerId="AD" clId="Web-{BD2AF6F3-DEE8-B88D-FD9F-711A6839DB97}"/>
    <pc:docChg chg="modSld">
      <pc:chgData name="Ana Fernández Vega" userId="S::ana.fernandez@ue-germany.de::190000d8-0631-4794-8ed3-d3e50ad80456" providerId="AD" clId="Web-{BD2AF6F3-DEE8-B88D-FD9F-711A6839DB97}" dt="2025-01-19T16:17:06.919" v="195" actId="14100"/>
      <pc:docMkLst>
        <pc:docMk/>
      </pc:docMkLst>
      <pc:sldChg chg="modSp">
        <pc:chgData name="Ana Fernández Vega" userId="S::ana.fernandez@ue-germany.de::190000d8-0631-4794-8ed3-d3e50ad80456" providerId="AD" clId="Web-{BD2AF6F3-DEE8-B88D-FD9F-711A6839DB97}" dt="2025-01-19T16:10:56.951" v="39" actId="20577"/>
        <pc:sldMkLst>
          <pc:docMk/>
          <pc:sldMk cId="1674425800" sldId="256"/>
        </pc:sldMkLst>
        <pc:spChg chg="mod">
          <ac:chgData name="Ana Fernández Vega" userId="S::ana.fernandez@ue-germany.de::190000d8-0631-4794-8ed3-d3e50ad80456" providerId="AD" clId="Web-{BD2AF6F3-DEE8-B88D-FD9F-711A6839DB97}" dt="2025-01-19T16:10:56.951" v="39" actId="20577"/>
          <ac:spMkLst>
            <pc:docMk/>
            <pc:sldMk cId="1674425800" sldId="256"/>
            <ac:spMk id="4" creationId="{40E49ACD-9FA8-1225-FE4E-F2812EC5E384}"/>
          </ac:spMkLst>
        </pc:spChg>
      </pc:sldChg>
      <pc:sldChg chg="modSp">
        <pc:chgData name="Ana Fernández Vega" userId="S::ana.fernandez@ue-germany.de::190000d8-0631-4794-8ed3-d3e50ad80456" providerId="AD" clId="Web-{BD2AF6F3-DEE8-B88D-FD9F-711A6839DB97}" dt="2025-01-19T16:11:08.874" v="44" actId="1076"/>
        <pc:sldMkLst>
          <pc:docMk/>
          <pc:sldMk cId="1907138948" sldId="258"/>
        </pc:sldMkLst>
        <pc:spChg chg="mod">
          <ac:chgData name="Ana Fernández Vega" userId="S::ana.fernandez@ue-germany.de::190000d8-0631-4794-8ed3-d3e50ad80456" providerId="AD" clId="Web-{BD2AF6F3-DEE8-B88D-FD9F-711A6839DB97}" dt="2025-01-19T16:11:01.170" v="42" actId="20577"/>
          <ac:spMkLst>
            <pc:docMk/>
            <pc:sldMk cId="1907138948" sldId="258"/>
            <ac:spMk id="2" creationId="{005660B0-38D0-F638-E9E3-A1D7F56D3233}"/>
          </ac:spMkLst>
        </pc:spChg>
        <pc:picChg chg="mod">
          <ac:chgData name="Ana Fernández Vega" userId="S::ana.fernandez@ue-germany.de::190000d8-0631-4794-8ed3-d3e50ad80456" providerId="AD" clId="Web-{BD2AF6F3-DEE8-B88D-FD9F-711A6839DB97}" dt="2025-01-19T16:11:08.874" v="44" actId="1076"/>
          <ac:picMkLst>
            <pc:docMk/>
            <pc:sldMk cId="1907138948" sldId="258"/>
            <ac:picMk id="6" creationId="{B354AFAA-4371-93A9-F1A6-6990DA0CE55F}"/>
          </ac:picMkLst>
        </pc:picChg>
      </pc:sldChg>
      <pc:sldChg chg="modSp">
        <pc:chgData name="Ana Fernández Vega" userId="S::ana.fernandez@ue-germany.de::190000d8-0631-4794-8ed3-d3e50ad80456" providerId="AD" clId="Web-{BD2AF6F3-DEE8-B88D-FD9F-711A6839DB97}" dt="2025-01-19T16:11:14.124" v="45" actId="1076"/>
        <pc:sldMkLst>
          <pc:docMk/>
          <pc:sldMk cId="3896521433" sldId="259"/>
        </pc:sldMkLst>
        <pc:spChg chg="mod">
          <ac:chgData name="Ana Fernández Vega" userId="S::ana.fernandez@ue-germany.de::190000d8-0631-4794-8ed3-d3e50ad80456" providerId="AD" clId="Web-{BD2AF6F3-DEE8-B88D-FD9F-711A6839DB97}" dt="2025-01-19T16:11:14.124" v="45" actId="1076"/>
          <ac:spMkLst>
            <pc:docMk/>
            <pc:sldMk cId="3896521433" sldId="259"/>
            <ac:spMk id="6" creationId="{2329A039-43AF-6F08-2EFD-33485085573B}"/>
          </ac:spMkLst>
        </pc:spChg>
      </pc:sldChg>
      <pc:sldChg chg="modSp">
        <pc:chgData name="Ana Fernández Vega" userId="S::ana.fernandez@ue-germany.de::190000d8-0631-4794-8ed3-d3e50ad80456" providerId="AD" clId="Web-{BD2AF6F3-DEE8-B88D-FD9F-711A6839DB97}" dt="2025-01-19T16:12:06.814" v="70" actId="20577"/>
        <pc:sldMkLst>
          <pc:docMk/>
          <pc:sldMk cId="4066970832" sldId="260"/>
        </pc:sldMkLst>
        <pc:spChg chg="mod">
          <ac:chgData name="Ana Fernández Vega" userId="S::ana.fernandez@ue-germany.de::190000d8-0631-4794-8ed3-d3e50ad80456" providerId="AD" clId="Web-{BD2AF6F3-DEE8-B88D-FD9F-711A6839DB97}" dt="2025-01-19T16:12:06.814" v="70" actId="20577"/>
          <ac:spMkLst>
            <pc:docMk/>
            <pc:sldMk cId="4066970832" sldId="260"/>
            <ac:spMk id="3" creationId="{8298953A-39F9-B601-918F-CD50873735FE}"/>
          </ac:spMkLst>
        </pc:spChg>
      </pc:sldChg>
      <pc:sldChg chg="modSp">
        <pc:chgData name="Ana Fernández Vega" userId="S::ana.fernandez@ue-germany.de::190000d8-0631-4794-8ed3-d3e50ad80456" providerId="AD" clId="Web-{BD2AF6F3-DEE8-B88D-FD9F-711A6839DB97}" dt="2025-01-19T16:12:18.877" v="74" actId="20577"/>
        <pc:sldMkLst>
          <pc:docMk/>
          <pc:sldMk cId="3827352547" sldId="261"/>
        </pc:sldMkLst>
        <pc:spChg chg="mod">
          <ac:chgData name="Ana Fernández Vega" userId="S::ana.fernandez@ue-germany.de::190000d8-0631-4794-8ed3-d3e50ad80456" providerId="AD" clId="Web-{BD2AF6F3-DEE8-B88D-FD9F-711A6839DB97}" dt="2025-01-19T16:12:18.877" v="74" actId="20577"/>
          <ac:spMkLst>
            <pc:docMk/>
            <pc:sldMk cId="3827352547" sldId="261"/>
            <ac:spMk id="8" creationId="{576D44A5-EF87-A5BB-0CF8-42D5BBEF3677}"/>
          </ac:spMkLst>
        </pc:spChg>
      </pc:sldChg>
      <pc:sldChg chg="modSp">
        <pc:chgData name="Ana Fernández Vega" userId="S::ana.fernandez@ue-germany.de::190000d8-0631-4794-8ed3-d3e50ad80456" providerId="AD" clId="Web-{BD2AF6F3-DEE8-B88D-FD9F-711A6839DB97}" dt="2025-01-19T16:12:38.706" v="80" actId="20577"/>
        <pc:sldMkLst>
          <pc:docMk/>
          <pc:sldMk cId="386509391" sldId="262"/>
        </pc:sldMkLst>
        <pc:spChg chg="mod">
          <ac:chgData name="Ana Fernández Vega" userId="S::ana.fernandez@ue-germany.de::190000d8-0631-4794-8ed3-d3e50ad80456" providerId="AD" clId="Web-{BD2AF6F3-DEE8-B88D-FD9F-711A6839DB97}" dt="2025-01-19T16:12:25.377" v="76" actId="20577"/>
          <ac:spMkLst>
            <pc:docMk/>
            <pc:sldMk cId="386509391" sldId="262"/>
            <ac:spMk id="3" creationId="{1AE89CCB-EB29-EDBD-4146-96C14D31DCBD}"/>
          </ac:spMkLst>
        </pc:spChg>
        <pc:spChg chg="mod">
          <ac:chgData name="Ana Fernández Vega" userId="S::ana.fernandez@ue-germany.de::190000d8-0631-4794-8ed3-d3e50ad80456" providerId="AD" clId="Web-{BD2AF6F3-DEE8-B88D-FD9F-711A6839DB97}" dt="2025-01-19T16:12:38.706" v="80" actId="20577"/>
          <ac:spMkLst>
            <pc:docMk/>
            <pc:sldMk cId="386509391" sldId="262"/>
            <ac:spMk id="5" creationId="{367CA697-DB6D-1201-1E8B-D67B92776FD7}"/>
          </ac:spMkLst>
        </pc:spChg>
      </pc:sldChg>
      <pc:sldChg chg="modSp">
        <pc:chgData name="Ana Fernández Vega" userId="S::ana.fernandez@ue-germany.de::190000d8-0631-4794-8ed3-d3e50ad80456" providerId="AD" clId="Web-{BD2AF6F3-DEE8-B88D-FD9F-711A6839DB97}" dt="2025-01-19T16:12:51.003" v="83" actId="20577"/>
        <pc:sldMkLst>
          <pc:docMk/>
          <pc:sldMk cId="3339295939" sldId="263"/>
        </pc:sldMkLst>
        <pc:spChg chg="mod">
          <ac:chgData name="Ana Fernández Vega" userId="S::ana.fernandez@ue-germany.de::190000d8-0631-4794-8ed3-d3e50ad80456" providerId="AD" clId="Web-{BD2AF6F3-DEE8-B88D-FD9F-711A6839DB97}" dt="2025-01-19T16:12:51.003" v="83" actId="20577"/>
          <ac:spMkLst>
            <pc:docMk/>
            <pc:sldMk cId="3339295939" sldId="263"/>
            <ac:spMk id="3" creationId="{993994FC-79F8-72FB-3F7A-C15919A5F43E}"/>
          </ac:spMkLst>
        </pc:spChg>
        <pc:picChg chg="mod">
          <ac:chgData name="Ana Fernández Vega" userId="S::ana.fernandez@ue-germany.de::190000d8-0631-4794-8ed3-d3e50ad80456" providerId="AD" clId="Web-{BD2AF6F3-DEE8-B88D-FD9F-711A6839DB97}" dt="2025-01-19T16:12:43.143" v="81" actId="1076"/>
          <ac:picMkLst>
            <pc:docMk/>
            <pc:sldMk cId="3339295939" sldId="263"/>
            <ac:picMk id="5" creationId="{86173DFC-F425-DF4B-84E8-3C1CCDA9B588}"/>
          </ac:picMkLst>
        </pc:picChg>
      </pc:sldChg>
      <pc:sldChg chg="modSp">
        <pc:chgData name="Ana Fernández Vega" userId="S::ana.fernandez@ue-germany.de::190000d8-0631-4794-8ed3-d3e50ad80456" providerId="AD" clId="Web-{BD2AF6F3-DEE8-B88D-FD9F-711A6839DB97}" dt="2025-01-19T16:13:16.988" v="88" actId="14100"/>
        <pc:sldMkLst>
          <pc:docMk/>
          <pc:sldMk cId="3592596685" sldId="265"/>
        </pc:sldMkLst>
        <pc:spChg chg="mod">
          <ac:chgData name="Ana Fernández Vega" userId="S::ana.fernandez@ue-germany.de::190000d8-0631-4794-8ed3-d3e50ad80456" providerId="AD" clId="Web-{BD2AF6F3-DEE8-B88D-FD9F-711A6839DB97}" dt="2025-01-19T16:13:16.988" v="88" actId="14100"/>
          <ac:spMkLst>
            <pc:docMk/>
            <pc:sldMk cId="3592596685" sldId="265"/>
            <ac:spMk id="5" creationId="{E390B9E1-CDC9-F7FF-5722-77D33C9123BF}"/>
          </ac:spMkLst>
        </pc:spChg>
      </pc:sldChg>
      <pc:sldChg chg="modSp">
        <pc:chgData name="Ana Fernández Vega" userId="S::ana.fernandez@ue-germany.de::190000d8-0631-4794-8ed3-d3e50ad80456" providerId="AD" clId="Web-{BD2AF6F3-DEE8-B88D-FD9F-711A6839DB97}" dt="2025-01-19T16:14:01.990" v="100" actId="20577"/>
        <pc:sldMkLst>
          <pc:docMk/>
          <pc:sldMk cId="1297845301" sldId="266"/>
        </pc:sldMkLst>
        <pc:spChg chg="mod">
          <ac:chgData name="Ana Fernández Vega" userId="S::ana.fernandez@ue-germany.de::190000d8-0631-4794-8ed3-d3e50ad80456" providerId="AD" clId="Web-{BD2AF6F3-DEE8-B88D-FD9F-711A6839DB97}" dt="2025-01-19T16:14:01.990" v="100" actId="20577"/>
          <ac:spMkLst>
            <pc:docMk/>
            <pc:sldMk cId="1297845301" sldId="266"/>
            <ac:spMk id="5" creationId="{709E987F-0777-21E0-B0B8-C01C1FA84253}"/>
          </ac:spMkLst>
        </pc:spChg>
      </pc:sldChg>
      <pc:sldChg chg="modSp">
        <pc:chgData name="Ana Fernández Vega" userId="S::ana.fernandez@ue-germany.de::190000d8-0631-4794-8ed3-d3e50ad80456" providerId="AD" clId="Web-{BD2AF6F3-DEE8-B88D-FD9F-711A6839DB97}" dt="2025-01-19T16:14:29.772" v="110" actId="20577"/>
        <pc:sldMkLst>
          <pc:docMk/>
          <pc:sldMk cId="70935190" sldId="268"/>
        </pc:sldMkLst>
        <pc:spChg chg="mod">
          <ac:chgData name="Ana Fernández Vega" userId="S::ana.fernandez@ue-germany.de::190000d8-0631-4794-8ed3-d3e50ad80456" providerId="AD" clId="Web-{BD2AF6F3-DEE8-B88D-FD9F-711A6839DB97}" dt="2025-01-19T16:14:29.772" v="110" actId="20577"/>
          <ac:spMkLst>
            <pc:docMk/>
            <pc:sldMk cId="70935190" sldId="268"/>
            <ac:spMk id="7" creationId="{01F3B890-6858-4399-8FA6-0DFB200036C0}"/>
          </ac:spMkLst>
        </pc:spChg>
      </pc:sldChg>
      <pc:sldChg chg="modSp">
        <pc:chgData name="Ana Fernández Vega" userId="S::ana.fernandez@ue-germany.de::190000d8-0631-4794-8ed3-d3e50ad80456" providerId="AD" clId="Web-{BD2AF6F3-DEE8-B88D-FD9F-711A6839DB97}" dt="2025-01-19T16:14:41.882" v="116" actId="14100"/>
        <pc:sldMkLst>
          <pc:docMk/>
          <pc:sldMk cId="1343732141" sldId="269"/>
        </pc:sldMkLst>
        <pc:spChg chg="mod">
          <ac:chgData name="Ana Fernández Vega" userId="S::ana.fernandez@ue-germany.de::190000d8-0631-4794-8ed3-d3e50ad80456" providerId="AD" clId="Web-{BD2AF6F3-DEE8-B88D-FD9F-711A6839DB97}" dt="2025-01-19T16:14:41.882" v="116" actId="14100"/>
          <ac:spMkLst>
            <pc:docMk/>
            <pc:sldMk cId="1343732141" sldId="269"/>
            <ac:spMk id="6" creationId="{AA862CCB-A9F6-5C6E-9B90-AC561CD29F3A}"/>
          </ac:spMkLst>
        </pc:spChg>
      </pc:sldChg>
      <pc:sldChg chg="modSp">
        <pc:chgData name="Ana Fernández Vega" userId="S::ana.fernandez@ue-germany.de::190000d8-0631-4794-8ed3-d3e50ad80456" providerId="AD" clId="Web-{BD2AF6F3-DEE8-B88D-FD9F-711A6839DB97}" dt="2025-01-19T16:14:53.086" v="117" actId="1076"/>
        <pc:sldMkLst>
          <pc:docMk/>
          <pc:sldMk cId="236237808" sldId="270"/>
        </pc:sldMkLst>
        <pc:spChg chg="mod">
          <ac:chgData name="Ana Fernández Vega" userId="S::ana.fernandez@ue-germany.de::190000d8-0631-4794-8ed3-d3e50ad80456" providerId="AD" clId="Web-{BD2AF6F3-DEE8-B88D-FD9F-711A6839DB97}" dt="2025-01-19T16:10:33.044" v="21" actId="20577"/>
          <ac:spMkLst>
            <pc:docMk/>
            <pc:sldMk cId="236237808" sldId="270"/>
            <ac:spMk id="2" creationId="{BB3939E0-FE97-216D-C59C-EC167C149CDB}"/>
          </ac:spMkLst>
        </pc:spChg>
        <pc:picChg chg="mod">
          <ac:chgData name="Ana Fernández Vega" userId="S::ana.fernandez@ue-germany.de::190000d8-0631-4794-8ed3-d3e50ad80456" providerId="AD" clId="Web-{BD2AF6F3-DEE8-B88D-FD9F-711A6839DB97}" dt="2025-01-19T16:14:53.086" v="117" actId="1076"/>
          <ac:picMkLst>
            <pc:docMk/>
            <pc:sldMk cId="236237808" sldId="270"/>
            <ac:picMk id="4" creationId="{80EAA3F5-3516-83AC-A31B-5CE66B311045}"/>
          </ac:picMkLst>
        </pc:picChg>
      </pc:sldChg>
      <pc:sldChg chg="modSp">
        <pc:chgData name="Ana Fernández Vega" userId="S::ana.fernandez@ue-germany.de::190000d8-0631-4794-8ed3-d3e50ad80456" providerId="AD" clId="Web-{BD2AF6F3-DEE8-B88D-FD9F-711A6839DB97}" dt="2025-01-19T16:15:22.743" v="135" actId="20577"/>
        <pc:sldMkLst>
          <pc:docMk/>
          <pc:sldMk cId="419289268" sldId="271"/>
        </pc:sldMkLst>
        <pc:spChg chg="mod">
          <ac:chgData name="Ana Fernández Vega" userId="S::ana.fernandez@ue-germany.de::190000d8-0631-4794-8ed3-d3e50ad80456" providerId="AD" clId="Web-{BD2AF6F3-DEE8-B88D-FD9F-711A6839DB97}" dt="2025-01-19T16:15:22.743" v="135" actId="20577"/>
          <ac:spMkLst>
            <pc:docMk/>
            <pc:sldMk cId="419289268" sldId="271"/>
            <ac:spMk id="5" creationId="{0AC00B49-B1CB-7154-C500-F0AB200260A5}"/>
          </ac:spMkLst>
        </pc:spChg>
        <pc:spChg chg="mod">
          <ac:chgData name="Ana Fernández Vega" userId="S::ana.fernandez@ue-germany.de::190000d8-0631-4794-8ed3-d3e50ad80456" providerId="AD" clId="Web-{BD2AF6F3-DEE8-B88D-FD9F-711A6839DB97}" dt="2025-01-19T16:15:10.883" v="125" actId="20577"/>
          <ac:spMkLst>
            <pc:docMk/>
            <pc:sldMk cId="419289268" sldId="271"/>
            <ac:spMk id="8" creationId="{064242D9-30AA-F8EF-A14E-2889FA41741F}"/>
          </ac:spMkLst>
        </pc:spChg>
      </pc:sldChg>
      <pc:sldChg chg="modSp">
        <pc:chgData name="Ana Fernández Vega" userId="S::ana.fernandez@ue-germany.de::190000d8-0631-4794-8ed3-d3e50ad80456" providerId="AD" clId="Web-{BD2AF6F3-DEE8-B88D-FD9F-711A6839DB97}" dt="2025-01-19T16:15:53.963" v="155" actId="20577"/>
        <pc:sldMkLst>
          <pc:docMk/>
          <pc:sldMk cId="1178050206" sldId="272"/>
        </pc:sldMkLst>
        <pc:spChg chg="mod">
          <ac:chgData name="Ana Fernández Vega" userId="S::ana.fernandez@ue-germany.de::190000d8-0631-4794-8ed3-d3e50ad80456" providerId="AD" clId="Web-{BD2AF6F3-DEE8-B88D-FD9F-711A6839DB97}" dt="2025-01-19T16:15:53.963" v="155" actId="20577"/>
          <ac:spMkLst>
            <pc:docMk/>
            <pc:sldMk cId="1178050206" sldId="272"/>
            <ac:spMk id="5" creationId="{25F810B5-7D0B-A393-9667-F76B436255F6}"/>
          </ac:spMkLst>
        </pc:spChg>
        <pc:spChg chg="mod">
          <ac:chgData name="Ana Fernández Vega" userId="S::ana.fernandez@ue-germany.de::190000d8-0631-4794-8ed3-d3e50ad80456" providerId="AD" clId="Web-{BD2AF6F3-DEE8-B88D-FD9F-711A6839DB97}" dt="2025-01-19T16:15:37.306" v="139" actId="1076"/>
          <ac:spMkLst>
            <pc:docMk/>
            <pc:sldMk cId="1178050206" sldId="272"/>
            <ac:spMk id="7" creationId="{91D9901F-A07F-3E8E-5C06-5436C42C7A07}"/>
          </ac:spMkLst>
        </pc:spChg>
      </pc:sldChg>
      <pc:sldChg chg="modSp">
        <pc:chgData name="Ana Fernández Vega" userId="S::ana.fernandez@ue-germany.de::190000d8-0631-4794-8ed3-d3e50ad80456" providerId="AD" clId="Web-{BD2AF6F3-DEE8-B88D-FD9F-711A6839DB97}" dt="2025-01-19T16:16:25.777" v="186" actId="20577"/>
        <pc:sldMkLst>
          <pc:docMk/>
          <pc:sldMk cId="2219669019" sldId="273"/>
        </pc:sldMkLst>
        <pc:spChg chg="mod">
          <ac:chgData name="Ana Fernández Vega" userId="S::ana.fernandez@ue-germany.de::190000d8-0631-4794-8ed3-d3e50ad80456" providerId="AD" clId="Web-{BD2AF6F3-DEE8-B88D-FD9F-711A6839DB97}" dt="2025-01-19T16:16:25.777" v="186" actId="20577"/>
          <ac:spMkLst>
            <pc:docMk/>
            <pc:sldMk cId="2219669019" sldId="273"/>
            <ac:spMk id="7" creationId="{2702B02C-E2E9-B3AB-24E7-1B2458E7DF33}"/>
          </ac:spMkLst>
        </pc:spChg>
      </pc:sldChg>
      <pc:sldChg chg="modSp">
        <pc:chgData name="Ana Fernández Vega" userId="S::ana.fernandez@ue-germany.de::190000d8-0631-4794-8ed3-d3e50ad80456" providerId="AD" clId="Web-{BD2AF6F3-DEE8-B88D-FD9F-711A6839DB97}" dt="2025-01-19T16:16:37.481" v="189" actId="20577"/>
        <pc:sldMkLst>
          <pc:docMk/>
          <pc:sldMk cId="335500009" sldId="274"/>
        </pc:sldMkLst>
        <pc:spChg chg="mod">
          <ac:chgData name="Ana Fernández Vega" userId="S::ana.fernandez@ue-germany.de::190000d8-0631-4794-8ed3-d3e50ad80456" providerId="AD" clId="Web-{BD2AF6F3-DEE8-B88D-FD9F-711A6839DB97}" dt="2025-01-19T16:16:37.481" v="189" actId="20577"/>
          <ac:spMkLst>
            <pc:docMk/>
            <pc:sldMk cId="335500009" sldId="274"/>
            <ac:spMk id="7" creationId="{A6F0E1D6-7F56-EB2E-6D9E-7B08FABA6007}"/>
          </ac:spMkLst>
        </pc:spChg>
      </pc:sldChg>
      <pc:sldChg chg="modSp">
        <pc:chgData name="Ana Fernández Vega" userId="S::ana.fernandez@ue-germany.de::190000d8-0631-4794-8ed3-d3e50ad80456" providerId="AD" clId="Web-{BD2AF6F3-DEE8-B88D-FD9F-711A6839DB97}" dt="2025-01-19T16:16:51.981" v="193" actId="20577"/>
        <pc:sldMkLst>
          <pc:docMk/>
          <pc:sldMk cId="3997088427" sldId="275"/>
        </pc:sldMkLst>
        <pc:spChg chg="mod">
          <ac:chgData name="Ana Fernández Vega" userId="S::ana.fernandez@ue-germany.de::190000d8-0631-4794-8ed3-d3e50ad80456" providerId="AD" clId="Web-{BD2AF6F3-DEE8-B88D-FD9F-711A6839DB97}" dt="2025-01-19T16:16:45.653" v="192" actId="20577"/>
          <ac:spMkLst>
            <pc:docMk/>
            <pc:sldMk cId="3997088427" sldId="275"/>
            <ac:spMk id="10" creationId="{DF4E4F55-2BF3-2742-4A11-6CC25D480BD9}"/>
          </ac:spMkLst>
        </pc:spChg>
        <pc:spChg chg="mod">
          <ac:chgData name="Ana Fernández Vega" userId="S::ana.fernandez@ue-germany.de::190000d8-0631-4794-8ed3-d3e50ad80456" providerId="AD" clId="Web-{BD2AF6F3-DEE8-B88D-FD9F-711A6839DB97}" dt="2025-01-19T16:16:51.981" v="193" actId="20577"/>
          <ac:spMkLst>
            <pc:docMk/>
            <pc:sldMk cId="3997088427" sldId="275"/>
            <ac:spMk id="11" creationId="{DA0C7D74-51FC-3F36-5790-63D468C46C39}"/>
          </ac:spMkLst>
        </pc:spChg>
      </pc:sldChg>
      <pc:sldChg chg="modSp">
        <pc:chgData name="Ana Fernández Vega" userId="S::ana.fernandez@ue-germany.de::190000d8-0631-4794-8ed3-d3e50ad80456" providerId="AD" clId="Web-{BD2AF6F3-DEE8-B88D-FD9F-711A6839DB97}" dt="2025-01-19T16:17:06.919" v="195" actId="14100"/>
        <pc:sldMkLst>
          <pc:docMk/>
          <pc:sldMk cId="3176006365" sldId="276"/>
        </pc:sldMkLst>
        <pc:picChg chg="mod">
          <ac:chgData name="Ana Fernández Vega" userId="S::ana.fernandez@ue-germany.de::190000d8-0631-4794-8ed3-d3e50ad80456" providerId="AD" clId="Web-{BD2AF6F3-DEE8-B88D-FD9F-711A6839DB97}" dt="2025-01-19T16:17:06.919" v="195" actId="14100"/>
          <ac:picMkLst>
            <pc:docMk/>
            <pc:sldMk cId="3176006365" sldId="276"/>
            <ac:picMk id="5" creationId="{973D91DE-5432-43D8-49F3-83B5B2267411}"/>
          </ac:picMkLst>
        </pc:picChg>
      </pc:sldChg>
    </pc:docChg>
  </pc:docChgLst>
  <pc:docChgLst>
    <pc:chgData name="Burak Gülerçe" userId="S::burak.guelerce@ue-germany.de::56b1bd12-8530-4abb-887e-b8849af18f7d" providerId="AD" clId="Web-{F26B6C41-225A-482C-EE50-6B3E6D75F709}"/>
    <pc:docChg chg="modSld">
      <pc:chgData name="Burak Gülerçe" userId="S::burak.guelerce@ue-germany.de::56b1bd12-8530-4abb-887e-b8849af18f7d" providerId="AD" clId="Web-{F26B6C41-225A-482C-EE50-6B3E6D75F709}" dt="2025-01-19T15:51:25.849" v="4"/>
      <pc:docMkLst>
        <pc:docMk/>
      </pc:docMkLst>
      <pc:sldChg chg="delSp modSp">
        <pc:chgData name="Burak Gülerçe" userId="S::burak.guelerce@ue-germany.de::56b1bd12-8530-4abb-887e-b8849af18f7d" providerId="AD" clId="Web-{F26B6C41-225A-482C-EE50-6B3E6D75F709}" dt="2025-01-19T15:51:25.849" v="4"/>
        <pc:sldMkLst>
          <pc:docMk/>
          <pc:sldMk cId="2219669019" sldId="273"/>
        </pc:sldMkLst>
        <pc:spChg chg="del mod">
          <ac:chgData name="Burak Gülerçe" userId="S::burak.guelerce@ue-germany.de::56b1bd12-8530-4abb-887e-b8849af18f7d" providerId="AD" clId="Web-{F26B6C41-225A-482C-EE50-6B3E6D75F709}" dt="2025-01-19T15:51:25.849" v="4"/>
          <ac:spMkLst>
            <pc:docMk/>
            <pc:sldMk cId="2219669019" sldId="273"/>
            <ac:spMk id="5" creationId="{D1CE573B-B39C-3B2E-5188-DE4701629C4D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CA29EB-1485-4E2B-8D34-9A954DA2FE40}" type="datetimeFigureOut">
              <a:rPr lang="en-IN" smtClean="0"/>
              <a:t>19-01-2025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94DC3FC-18D8-44A6-A39E-A23F0BD08E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2019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0448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84314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56879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71235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1/19/2025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40647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2583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1/19/2025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8880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89639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84125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93050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256319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79155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56189047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567820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51378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60507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62622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1" r:id="rId1"/>
    <p:sldLayoutId id="2147483782" r:id="rId2"/>
    <p:sldLayoutId id="2147483783" r:id="rId3"/>
    <p:sldLayoutId id="2147483784" r:id="rId4"/>
    <p:sldLayoutId id="2147483785" r:id="rId5"/>
    <p:sldLayoutId id="2147483786" r:id="rId6"/>
    <p:sldLayoutId id="2147483787" r:id="rId7"/>
    <p:sldLayoutId id="2147483788" r:id="rId8"/>
    <p:sldLayoutId id="2147483789" r:id="rId9"/>
    <p:sldLayoutId id="2147483790" r:id="rId10"/>
    <p:sldLayoutId id="2147483791" r:id="rId11"/>
    <p:sldLayoutId id="2147483792" r:id="rId12"/>
    <p:sldLayoutId id="2147483793" r:id="rId13"/>
    <p:sldLayoutId id="2147483794" r:id="rId14"/>
    <p:sldLayoutId id="2147483795" r:id="rId15"/>
    <p:sldLayoutId id="214748379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webp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webp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64FC6B5C-10F1-37F1-0153-C900521D75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899" y="2003353"/>
            <a:ext cx="4561800" cy="2554608"/>
          </a:xfrm>
          <a:prstGeom prst="rect">
            <a:avLst/>
          </a:prstGeom>
        </p:spPr>
      </p:pic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Autofit/>
          </a:bodyPr>
          <a:lstStyle/>
          <a:p>
            <a:endParaRPr lang="tr-TR" sz="2000"/>
          </a:p>
          <a:p>
            <a:endParaRPr lang="tr-TR"/>
          </a:p>
        </p:txBody>
      </p:sp>
      <p:sp>
        <p:nvSpPr>
          <p:cNvPr id="3" name="Alt Başlık 2"/>
          <p:cNvSpPr>
            <a:spLocks noGrp="1"/>
          </p:cNvSpPr>
          <p:nvPr>
            <p:ph idx="1"/>
          </p:nvPr>
        </p:nvSpPr>
        <p:spPr>
          <a:xfrm>
            <a:off x="1170393" y="4912659"/>
            <a:ext cx="3428501" cy="2222397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just">
              <a:spcBef>
                <a:spcPct val="0"/>
              </a:spcBef>
            </a:pPr>
            <a:r>
              <a:rPr lang="tr-TR" sz="2000">
                <a:latin typeface="Aptos Display"/>
              </a:rPr>
              <a:t>Ana Fernandez </a:t>
            </a:r>
            <a:r>
              <a:rPr lang="tr-TR" sz="2000" err="1">
                <a:latin typeface="Aptos Display"/>
              </a:rPr>
              <a:t>Vega</a:t>
            </a:r>
            <a:r>
              <a:rPr lang="tr-TR" sz="2000">
                <a:latin typeface="Aptos Display"/>
              </a:rPr>
              <a:t> </a:t>
            </a:r>
          </a:p>
          <a:p>
            <a:pPr>
              <a:spcBef>
                <a:spcPct val="0"/>
              </a:spcBef>
            </a:pPr>
            <a:r>
              <a:rPr lang="tr-TR" sz="2000">
                <a:latin typeface="Aptos Display"/>
              </a:rPr>
              <a:t>Asım Emre ACI</a:t>
            </a:r>
          </a:p>
          <a:p>
            <a:pPr>
              <a:spcBef>
                <a:spcPct val="0"/>
              </a:spcBef>
            </a:pPr>
            <a:r>
              <a:rPr lang="tr-TR" sz="2000">
                <a:latin typeface="Aptos Display"/>
              </a:rPr>
              <a:t>Burak Gülerçe</a:t>
            </a:r>
          </a:p>
          <a:p>
            <a:pPr>
              <a:spcBef>
                <a:spcPct val="0"/>
              </a:spcBef>
            </a:pPr>
            <a:r>
              <a:rPr lang="tr-TR" sz="2000">
                <a:latin typeface="Aptos Display"/>
              </a:rPr>
              <a:t>Prince Sangitaben Patel</a:t>
            </a:r>
          </a:p>
          <a:p>
            <a:pPr>
              <a:spcBef>
                <a:spcPct val="0"/>
              </a:spcBef>
            </a:pPr>
            <a:r>
              <a:rPr lang="tr-TR" sz="2200">
                <a:latin typeface="Aptos Display"/>
              </a:rPr>
              <a:t>Varun Rameshkumar Chothani</a:t>
            </a:r>
            <a:endParaRPr lang="tr-TR"/>
          </a:p>
          <a:p>
            <a:pPr>
              <a:spcBef>
                <a:spcPct val="0"/>
              </a:spcBef>
            </a:pPr>
            <a:endParaRPr lang="tr-TR" sz="2000">
              <a:latin typeface="Aptos Display"/>
            </a:endParaRPr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40E49ACD-9FA8-1225-FE4E-F2812EC5E384}"/>
              </a:ext>
            </a:extLst>
          </p:cNvPr>
          <p:cNvSpPr txBox="1"/>
          <p:nvPr/>
        </p:nvSpPr>
        <p:spPr>
          <a:xfrm>
            <a:off x="-572901" y="4572902"/>
            <a:ext cx="10182225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tr-TR" sz="2400" b="1">
                <a:latin typeface="Aptos Display"/>
              </a:rPr>
              <a:t>Project </a:t>
            </a:r>
            <a:r>
              <a:rPr lang="tr-TR" sz="2400" b="1" err="1">
                <a:latin typeface="Aptos Display"/>
              </a:rPr>
              <a:t>group</a:t>
            </a:r>
            <a:r>
              <a:rPr lang="tr-TR" sz="2400" b="1">
                <a:latin typeface="Aptos Display"/>
              </a:rPr>
              <a:t> members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4A47D64-F2E8-65B7-1226-A936C4CBBADE}"/>
              </a:ext>
            </a:extLst>
          </p:cNvPr>
          <p:cNvSpPr txBox="1"/>
          <p:nvPr/>
        </p:nvSpPr>
        <p:spPr>
          <a:xfrm>
            <a:off x="235175" y="173007"/>
            <a:ext cx="8283389" cy="156966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just"/>
            <a:r>
              <a:rPr lang="en-US" sz="4800" b="1" i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Gold Trade in Ghana and South Africa </a:t>
            </a:r>
            <a:endParaRPr lang="en-IN" sz="4800" b="1"/>
          </a:p>
        </p:txBody>
      </p:sp>
      <p:sp>
        <p:nvSpPr>
          <p:cNvPr id="7" name="Alt Başlık 2">
            <a:extLst>
              <a:ext uri="{FF2B5EF4-FFF2-40B4-BE49-F238E27FC236}">
                <a16:creationId xmlns:a16="http://schemas.microsoft.com/office/drawing/2014/main" id="{95D2296A-633B-F629-28E9-7A8BC84D4716}"/>
              </a:ext>
            </a:extLst>
          </p:cNvPr>
          <p:cNvSpPr txBox="1">
            <a:spLocks/>
          </p:cNvSpPr>
          <p:nvPr/>
        </p:nvSpPr>
        <p:spPr>
          <a:xfrm>
            <a:off x="4815699" y="4945542"/>
            <a:ext cx="8596668" cy="22223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</a:pPr>
            <a:r>
              <a:rPr lang="tr-TR" sz="1800">
                <a:latin typeface="Aptos Display"/>
              </a:rPr>
              <a:t>Vamshi Abhishake Tekulapally</a:t>
            </a:r>
          </a:p>
          <a:p>
            <a:pPr>
              <a:spcBef>
                <a:spcPct val="0"/>
              </a:spcBef>
            </a:pPr>
            <a:r>
              <a:rPr lang="tr-TR" sz="1800">
                <a:latin typeface="Aptos Display"/>
              </a:rPr>
              <a:t>Rupali Milind Patil</a:t>
            </a:r>
            <a:endParaRPr lang="tr-TR"/>
          </a:p>
          <a:p>
            <a:pPr>
              <a:spcBef>
                <a:spcPct val="0"/>
              </a:spcBef>
            </a:pPr>
            <a:r>
              <a:rPr lang="tr-TR" sz="1800">
                <a:latin typeface="Aptos Display"/>
              </a:rPr>
              <a:t>Mahdi Rajabi</a:t>
            </a:r>
          </a:p>
          <a:p>
            <a:pPr>
              <a:spcBef>
                <a:spcPct val="0"/>
              </a:spcBef>
            </a:pPr>
            <a:r>
              <a:rPr lang="tr-TR" sz="1800">
                <a:latin typeface="Aptos Display"/>
              </a:rPr>
              <a:t>Arun Kallingal Mohankumar</a:t>
            </a:r>
          </a:p>
          <a:p>
            <a:pPr>
              <a:spcBef>
                <a:spcPct val="0"/>
              </a:spcBef>
            </a:pPr>
            <a:r>
              <a:rPr lang="tr-TR" sz="1800">
                <a:latin typeface="Aptos Display"/>
              </a:rPr>
              <a:t>Oscar Antonio Garcia Arzu</a:t>
            </a:r>
          </a:p>
          <a:p>
            <a:pPr>
              <a:spcBef>
                <a:spcPct val="0"/>
              </a:spcBef>
            </a:pPr>
            <a:r>
              <a:rPr lang="tr-TR" sz="1800">
                <a:latin typeface="Aptos Display"/>
              </a:rPr>
              <a:t>Mohammed Feroz Shaik</a:t>
            </a:r>
            <a:endParaRPr lang="tr-TR" sz="5400">
              <a:latin typeface="Aptos Display"/>
            </a:endParaRPr>
          </a:p>
          <a:p>
            <a:endParaRPr lang="en-IN"/>
          </a:p>
          <a:p>
            <a:pPr>
              <a:spcBef>
                <a:spcPct val="0"/>
              </a:spcBef>
            </a:pPr>
            <a:endParaRPr lang="tr-TR"/>
          </a:p>
          <a:p>
            <a:pPr>
              <a:spcBef>
                <a:spcPct val="0"/>
              </a:spcBef>
            </a:pPr>
            <a:endParaRPr lang="tr-TR" sz="2000">
              <a:latin typeface="Aptos Display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B522A85-A6A4-E11A-C42A-69135299A5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8494" y="2003353"/>
            <a:ext cx="3899647" cy="2595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44258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005660B0-38D0-F638-E9E3-A1D7F56D32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tr-TR" b="1"/>
              <a:t>  Project </a:t>
            </a:r>
            <a:r>
              <a:rPr lang="tr-TR" b="1" err="1"/>
              <a:t>Details</a:t>
            </a:r>
            <a:endParaRPr lang="tr-TR" b="1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08FD6E91-AEB2-556A-E42F-D1B4FCC22C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tr-TR"/>
          </a:p>
          <a:p>
            <a:endParaRPr lang="tr-TR">
              <a:solidFill>
                <a:srgbClr val="000000"/>
              </a:solidFill>
              <a:latin typeface="Aptos"/>
              <a:cs typeface="Segoe UI"/>
            </a:endParaRPr>
          </a:p>
          <a:p>
            <a:endParaRPr lang="tr-TR">
              <a:solidFill>
                <a:srgbClr val="000000"/>
              </a:solidFill>
              <a:latin typeface="Aptos"/>
              <a:cs typeface="Segoe UI"/>
            </a:endParaRPr>
          </a:p>
        </p:txBody>
      </p:sp>
      <p:pic>
        <p:nvPicPr>
          <p:cNvPr id="6" name="Resim 5" descr="metin, diyagram, çizgi, ekran görüntüsü içeren bir resim&#10;&#10;Yapay zeka tarafından oluşturulan içerik yanlış olabilir.">
            <a:extLst>
              <a:ext uri="{FF2B5EF4-FFF2-40B4-BE49-F238E27FC236}">
                <a16:creationId xmlns:a16="http://schemas.microsoft.com/office/drawing/2014/main" id="{B354AFAA-4371-93A9-F1A6-6990DA0CE5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34" y="1720322"/>
            <a:ext cx="8958328" cy="3628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71389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66DE5157-B095-C0C4-50C6-5F3B9D9672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483" y="726140"/>
            <a:ext cx="8596668" cy="1320800"/>
          </a:xfrm>
        </p:spPr>
        <p:txBody>
          <a:bodyPr>
            <a:normAutofit/>
          </a:bodyPr>
          <a:lstStyle/>
          <a:p>
            <a:r>
              <a:rPr lang="tr-TR" sz="2800" b="1">
                <a:solidFill>
                  <a:schemeClr val="accent2"/>
                </a:solidFill>
                <a:latin typeface="Segoe UI"/>
                <a:cs typeface="Segoe UI"/>
              </a:rPr>
              <a:t>Ghana’s and South Africa’s Trade through the Years with Evolution</a:t>
            </a:r>
            <a:endParaRPr lang="tr-TR" sz="2800">
              <a:solidFill>
                <a:schemeClr val="accent2"/>
              </a:solidFill>
            </a:endParaRPr>
          </a:p>
        </p:txBody>
      </p:sp>
      <p:pic>
        <p:nvPicPr>
          <p:cNvPr id="4" name="İçerik Yer Tutucusu 3" descr="metin, ekran görüntüsü, diyagram, renklilik içeren bir resim&#10;&#10;Yapay zeka tarafından oluşturulan içerik yanlış olabilir.">
            <a:extLst>
              <a:ext uri="{FF2B5EF4-FFF2-40B4-BE49-F238E27FC236}">
                <a16:creationId xmlns:a16="http://schemas.microsoft.com/office/drawing/2014/main" id="{85DF16BE-4967-14C3-773B-C1FE68996D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95059" y="2353508"/>
            <a:ext cx="4550222" cy="3873962"/>
          </a:xfrm>
        </p:spPr>
      </p:pic>
      <p:sp>
        <p:nvSpPr>
          <p:cNvPr id="5" name="Metin kutusu 4">
            <a:extLst>
              <a:ext uri="{FF2B5EF4-FFF2-40B4-BE49-F238E27FC236}">
                <a16:creationId xmlns:a16="http://schemas.microsoft.com/office/drawing/2014/main" id="{6FDF9939-C642-B844-0AF8-567B82E08D29}"/>
              </a:ext>
            </a:extLst>
          </p:cNvPr>
          <p:cNvSpPr txBox="1"/>
          <p:nvPr/>
        </p:nvSpPr>
        <p:spPr>
          <a:xfrm>
            <a:off x="5462646" y="3105834"/>
            <a:ext cx="5430962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tr-TR" err="1"/>
              <a:t>In</a:t>
            </a:r>
            <a:r>
              <a:rPr lang="tr-TR"/>
              <a:t> </a:t>
            </a:r>
            <a:r>
              <a:rPr lang="tr-TR" err="1"/>
              <a:t>this</a:t>
            </a:r>
            <a:r>
              <a:rPr lang="tr-TR"/>
              <a:t> </a:t>
            </a:r>
            <a:r>
              <a:rPr lang="tr-TR" err="1"/>
              <a:t>Graph</a:t>
            </a:r>
            <a:r>
              <a:rPr lang="tr-TR"/>
              <a:t> </a:t>
            </a:r>
            <a:r>
              <a:rPr lang="tr-TR" err="1"/>
              <a:t>shown</a:t>
            </a:r>
            <a:r>
              <a:rPr lang="tr-TR"/>
              <a:t> 2017-2023 Gold </a:t>
            </a:r>
            <a:r>
              <a:rPr lang="tr-TR" err="1"/>
              <a:t>Trade</a:t>
            </a:r>
            <a:r>
              <a:rPr lang="tr-TR"/>
              <a:t> </a:t>
            </a:r>
            <a:r>
              <a:rPr lang="tr-TR" err="1"/>
              <a:t>Evolutions</a:t>
            </a:r>
          </a:p>
          <a:p>
            <a:endParaRPr lang="tr-TR"/>
          </a:p>
        </p:txBody>
      </p:sp>
      <p:sp>
        <p:nvSpPr>
          <p:cNvPr id="6" name="Metin kutusu 5">
            <a:extLst>
              <a:ext uri="{FF2B5EF4-FFF2-40B4-BE49-F238E27FC236}">
                <a16:creationId xmlns:a16="http://schemas.microsoft.com/office/drawing/2014/main" id="{2329A039-43AF-6F08-2EFD-33485085573B}"/>
              </a:ext>
            </a:extLst>
          </p:cNvPr>
          <p:cNvSpPr txBox="1"/>
          <p:nvPr/>
        </p:nvSpPr>
        <p:spPr>
          <a:xfrm>
            <a:off x="5455796" y="3948056"/>
            <a:ext cx="5374585" cy="132343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tr-TR" sz="2000"/>
              <a:t>How </a:t>
            </a:r>
            <a:r>
              <a:rPr lang="tr-TR" sz="2000" err="1"/>
              <a:t>did</a:t>
            </a:r>
            <a:r>
              <a:rPr lang="tr-TR" sz="2000"/>
              <a:t> it </a:t>
            </a:r>
            <a:r>
              <a:rPr lang="tr-TR" sz="2000" err="1"/>
              <a:t>evolve</a:t>
            </a:r>
          </a:p>
          <a:p>
            <a:pPr marL="285750" indent="-285750">
              <a:buFont typeface="Arial"/>
              <a:buChar char="•"/>
            </a:pPr>
            <a:r>
              <a:rPr lang="tr-TR" sz="2000" err="1"/>
              <a:t>Colonism</a:t>
            </a:r>
            <a:r>
              <a:rPr lang="tr-TR" sz="2000"/>
              <a:t> </a:t>
            </a:r>
            <a:r>
              <a:rPr lang="tr-TR" sz="2000" err="1"/>
              <a:t>effect</a:t>
            </a:r>
          </a:p>
          <a:p>
            <a:pPr marL="285750" indent="-285750">
              <a:buFont typeface="Arial"/>
              <a:buChar char="•"/>
            </a:pPr>
            <a:r>
              <a:rPr lang="tr-TR" sz="2000" err="1"/>
              <a:t>Globalization</a:t>
            </a:r>
          </a:p>
          <a:p>
            <a:pPr marL="285750" indent="-285750">
              <a:buFont typeface="Arial"/>
              <a:buChar char="•"/>
            </a:pPr>
            <a:r>
              <a:rPr lang="tr-TR" sz="2000" err="1"/>
              <a:t>Demands</a:t>
            </a:r>
            <a:r>
              <a:rPr lang="tr-TR" sz="2000"/>
              <a:t> </a:t>
            </a:r>
            <a:r>
              <a:rPr lang="tr-TR" sz="2000" err="1"/>
              <a:t>and</a:t>
            </a:r>
            <a:r>
              <a:rPr lang="tr-TR" sz="2000"/>
              <a:t> </a:t>
            </a:r>
            <a:r>
              <a:rPr lang="tr-TR" sz="2000" err="1"/>
              <a:t>Goverments</a:t>
            </a:r>
            <a:r>
              <a:rPr lang="tr-TR" sz="2000"/>
              <a:t> </a:t>
            </a:r>
            <a:r>
              <a:rPr lang="tr-TR" sz="2000" err="1"/>
              <a:t>Policies</a:t>
            </a:r>
          </a:p>
        </p:txBody>
      </p:sp>
    </p:spTree>
    <p:extLst>
      <p:ext uri="{BB962C8B-B14F-4D97-AF65-F5344CB8AC3E}">
        <p14:creationId xmlns:p14="http://schemas.microsoft.com/office/powerpoint/2010/main" val="38965214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FC3A8684-8F56-6AF8-5EB0-C5181987BD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tr-TR" b="1"/>
              <a:t>South </a:t>
            </a:r>
            <a:r>
              <a:rPr lang="tr-TR" b="1" err="1"/>
              <a:t>Africa's</a:t>
            </a:r>
            <a:r>
              <a:rPr lang="tr-TR" b="1"/>
              <a:t> 2020 </a:t>
            </a:r>
            <a:r>
              <a:rPr lang="tr-TR" b="1" err="1"/>
              <a:t>Trade</a:t>
            </a:r>
            <a:r>
              <a:rPr lang="tr-TR" b="1"/>
              <a:t> </a:t>
            </a:r>
            <a:r>
              <a:rPr lang="tr-TR" b="1" err="1"/>
              <a:t>list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8298953A-39F9-B601-918F-CD50873735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6651" y="1488613"/>
            <a:ext cx="8596668" cy="388077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tr-TR" err="1"/>
              <a:t>Export</a:t>
            </a:r>
            <a:r>
              <a:rPr lang="tr-TR"/>
              <a:t> </a:t>
            </a:r>
            <a:r>
              <a:rPr lang="tr-TR" err="1"/>
              <a:t>trade</a:t>
            </a:r>
            <a:r>
              <a:rPr lang="tr-TR"/>
              <a:t> </a:t>
            </a:r>
            <a:r>
              <a:rPr lang="tr-TR" err="1"/>
              <a:t>route</a:t>
            </a:r>
            <a:r>
              <a:rPr lang="tr-TR"/>
              <a:t> </a:t>
            </a:r>
            <a:r>
              <a:rPr lang="tr-TR" err="1"/>
              <a:t>for</a:t>
            </a:r>
            <a:r>
              <a:rPr lang="tr-TR"/>
              <a:t> South Africa:</a:t>
            </a:r>
          </a:p>
          <a:p>
            <a:pPr marL="0" indent="0">
              <a:buNone/>
            </a:pPr>
            <a:endParaRPr lang="tr-TR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EDBD8D3-20D7-4200-679B-48258A790A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7839" y="2320924"/>
            <a:ext cx="4686300" cy="3927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69708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0DD85665-8B5C-0A30-5FB7-5D44678EA9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tr-TR" b="1"/>
              <a:t>2020 </a:t>
            </a:r>
            <a:r>
              <a:rPr lang="tr-TR" b="1" err="1"/>
              <a:t>Ghana's</a:t>
            </a:r>
            <a:r>
              <a:rPr lang="tr-TR" b="1"/>
              <a:t> </a:t>
            </a:r>
            <a:r>
              <a:rPr lang="tr-TR" b="1" err="1"/>
              <a:t>Trade</a:t>
            </a:r>
            <a:r>
              <a:rPr lang="tr-TR" b="1"/>
              <a:t> </a:t>
            </a:r>
            <a:r>
              <a:rPr lang="tr-TR" b="1" err="1"/>
              <a:t>Table</a:t>
            </a:r>
          </a:p>
        </p:txBody>
      </p:sp>
      <p:pic>
        <p:nvPicPr>
          <p:cNvPr id="7" name="İçerik Yer Tutucusu 6" descr="A map of the world&#10;&#10;Description automatically generated">
            <a:extLst>
              <a:ext uri="{FF2B5EF4-FFF2-40B4-BE49-F238E27FC236}">
                <a16:creationId xmlns:a16="http://schemas.microsoft.com/office/drawing/2014/main" id="{DE2E7BF0-74D8-31C1-529F-93A482D8039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7332" y="1719491"/>
            <a:ext cx="5798668" cy="4674927"/>
          </a:xfrm>
        </p:spPr>
      </p:pic>
      <p:sp>
        <p:nvSpPr>
          <p:cNvPr id="8" name="Metin kutusu 7">
            <a:extLst>
              <a:ext uri="{FF2B5EF4-FFF2-40B4-BE49-F238E27FC236}">
                <a16:creationId xmlns:a16="http://schemas.microsoft.com/office/drawing/2014/main" id="{576D44A5-EF87-A5BB-0CF8-42D5BBEF3677}"/>
              </a:ext>
            </a:extLst>
          </p:cNvPr>
          <p:cNvSpPr txBox="1"/>
          <p:nvPr/>
        </p:nvSpPr>
        <p:spPr>
          <a:xfrm>
            <a:off x="6185716" y="1930400"/>
            <a:ext cx="3953366" cy="701730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tr-TR"/>
              <a:t>*</a:t>
            </a:r>
            <a:r>
              <a:rPr lang="tr-TR" err="1"/>
              <a:t>This</a:t>
            </a:r>
            <a:r>
              <a:rPr lang="tr-TR"/>
              <a:t> </a:t>
            </a:r>
            <a:r>
              <a:rPr lang="tr-TR" err="1"/>
              <a:t>map</a:t>
            </a:r>
            <a:r>
              <a:rPr lang="tr-TR"/>
              <a:t> </a:t>
            </a:r>
            <a:r>
              <a:rPr lang="tr-TR" err="1"/>
              <a:t>shows</a:t>
            </a:r>
            <a:r>
              <a:rPr lang="tr-TR"/>
              <a:t> </a:t>
            </a:r>
            <a:r>
              <a:rPr lang="tr-TR" err="1"/>
              <a:t>the</a:t>
            </a:r>
            <a:r>
              <a:rPr lang="tr-TR"/>
              <a:t> </a:t>
            </a:r>
            <a:r>
              <a:rPr lang="tr-TR" err="1"/>
              <a:t>trade</a:t>
            </a:r>
            <a:r>
              <a:rPr lang="tr-TR"/>
              <a:t> </a:t>
            </a:r>
            <a:r>
              <a:rPr lang="tr-TR" err="1"/>
              <a:t>partners</a:t>
            </a:r>
            <a:r>
              <a:rPr lang="tr-TR"/>
              <a:t> </a:t>
            </a:r>
            <a:r>
              <a:rPr lang="tr-TR" err="1"/>
              <a:t>for</a:t>
            </a:r>
            <a:r>
              <a:rPr lang="tr-TR"/>
              <a:t> </a:t>
            </a:r>
            <a:r>
              <a:rPr lang="tr-TR" err="1"/>
              <a:t>Ghana</a:t>
            </a:r>
            <a:r>
              <a:rPr lang="tr-TR"/>
              <a:t> at 2020.</a:t>
            </a:r>
          </a:p>
          <a:p>
            <a:endParaRPr lang="tr-TR"/>
          </a:p>
          <a:p>
            <a:pPr marL="285750" indent="-285750">
              <a:buFont typeface="Arial"/>
              <a:buChar char="•"/>
            </a:pPr>
            <a:r>
              <a:rPr lang="tr-TR" err="1"/>
              <a:t>Eu</a:t>
            </a:r>
            <a:r>
              <a:rPr lang="tr-TR"/>
              <a:t> </a:t>
            </a:r>
            <a:r>
              <a:rPr lang="tr-TR" err="1"/>
              <a:t>countries</a:t>
            </a:r>
            <a:endParaRPr lang="tr-TR"/>
          </a:p>
          <a:p>
            <a:pPr marL="285750" indent="-285750">
              <a:buFont typeface="Arial"/>
              <a:buChar char="•"/>
            </a:pPr>
            <a:r>
              <a:rPr lang="tr-TR"/>
              <a:t>Usa</a:t>
            </a:r>
          </a:p>
          <a:p>
            <a:pPr marL="285750" indent="-285750">
              <a:buFont typeface="Arial"/>
              <a:buChar char="•"/>
            </a:pPr>
            <a:r>
              <a:rPr lang="tr-TR" err="1"/>
              <a:t>Canada</a:t>
            </a:r>
            <a:endParaRPr lang="tr-TR"/>
          </a:p>
          <a:p>
            <a:pPr marL="285750" indent="-285750">
              <a:buFont typeface="Arial"/>
              <a:buChar char="•"/>
            </a:pPr>
            <a:r>
              <a:rPr lang="tr-TR" err="1"/>
              <a:t>Brazil</a:t>
            </a:r>
            <a:endParaRPr lang="tr-TR"/>
          </a:p>
          <a:p>
            <a:pPr marL="285750" indent="-285750">
              <a:buFont typeface="Arial"/>
              <a:buChar char="•"/>
            </a:pPr>
            <a:r>
              <a:rPr lang="tr-TR" err="1"/>
              <a:t>Arabia</a:t>
            </a:r>
            <a:endParaRPr lang="tr-TR"/>
          </a:p>
          <a:p>
            <a:pPr marL="285750" indent="-285750">
              <a:buFont typeface="Arial"/>
              <a:buChar char="•"/>
            </a:pPr>
            <a:r>
              <a:rPr lang="tr-TR"/>
              <a:t>South </a:t>
            </a:r>
            <a:r>
              <a:rPr lang="tr-TR" err="1"/>
              <a:t>Africa</a:t>
            </a:r>
            <a:endParaRPr lang="tr-TR"/>
          </a:p>
          <a:p>
            <a:pPr marL="285750" indent="-285750">
              <a:buFont typeface="Arial"/>
              <a:buChar char="•"/>
            </a:pPr>
            <a:r>
              <a:rPr lang="tr-TR" err="1"/>
              <a:t>China</a:t>
            </a:r>
            <a:endParaRPr lang="tr-TR"/>
          </a:p>
          <a:p>
            <a:pPr marL="285750" indent="-285750">
              <a:buFont typeface="Arial"/>
              <a:buChar char="•"/>
            </a:pPr>
            <a:r>
              <a:rPr lang="tr-TR" err="1"/>
              <a:t>India</a:t>
            </a:r>
            <a:endParaRPr lang="tr-TR"/>
          </a:p>
          <a:p>
            <a:pPr marL="285750" indent="-285750">
              <a:buFont typeface="Arial"/>
              <a:buChar char="•"/>
            </a:pPr>
            <a:r>
              <a:rPr lang="tr-TR" err="1"/>
              <a:t>Australia</a:t>
            </a:r>
            <a:endParaRPr lang="tr-TR"/>
          </a:p>
          <a:p>
            <a:endParaRPr lang="tr-TR"/>
          </a:p>
          <a:p>
            <a:endParaRPr lang="tr-TR"/>
          </a:p>
          <a:p>
            <a:endParaRPr lang="tr-TR"/>
          </a:p>
          <a:p>
            <a:endParaRPr lang="tr-TR"/>
          </a:p>
          <a:p>
            <a:endParaRPr lang="tr-TR"/>
          </a:p>
          <a:p>
            <a:endParaRPr lang="tr-TR"/>
          </a:p>
          <a:p>
            <a:endParaRPr lang="tr-TR"/>
          </a:p>
          <a:p>
            <a:endParaRPr lang="tr-TR"/>
          </a:p>
          <a:p>
            <a:endParaRPr lang="tr-TR"/>
          </a:p>
          <a:p>
            <a:endParaRPr lang="tr-TR"/>
          </a:p>
          <a:p>
            <a:endParaRPr lang="tr-TR"/>
          </a:p>
          <a:p>
            <a:endParaRPr lang="tr-TR"/>
          </a:p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8273525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049701E9-0FB8-5F15-A714-056A87094C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tr-TR" b="1" err="1"/>
              <a:t>Impact</a:t>
            </a:r>
            <a:r>
              <a:rPr lang="tr-TR" b="1"/>
              <a:t> Of Covid-19 Gold Mines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1AE89CCB-EB29-EDBD-4146-96C14D31D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8284" y="1670284"/>
            <a:ext cx="3688478" cy="851552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r>
              <a:rPr lang="tr-TR" err="1"/>
              <a:t>Lockdown</a:t>
            </a:r>
            <a:r>
              <a:rPr lang="tr-TR"/>
              <a:t> </a:t>
            </a:r>
            <a:r>
              <a:rPr lang="tr-TR" err="1"/>
              <a:t>affected</a:t>
            </a:r>
            <a:r>
              <a:rPr lang="tr-TR"/>
              <a:t> </a:t>
            </a:r>
            <a:r>
              <a:rPr lang="tr-TR" err="1"/>
              <a:t>the</a:t>
            </a:r>
            <a:r>
              <a:rPr lang="tr-TR"/>
              <a:t> </a:t>
            </a:r>
            <a:r>
              <a:rPr lang="tr-TR" err="1"/>
              <a:t>whole</a:t>
            </a:r>
            <a:r>
              <a:rPr lang="tr-TR"/>
              <a:t> </a:t>
            </a:r>
            <a:r>
              <a:rPr lang="tr-TR" err="1"/>
              <a:t>world</a:t>
            </a:r>
            <a:endParaRPr lang="tr-TR"/>
          </a:p>
          <a:p>
            <a:r>
              <a:rPr lang="tr-TR" err="1"/>
              <a:t>Curfew</a:t>
            </a:r>
            <a:r>
              <a:rPr lang="tr-TR"/>
              <a:t> at </a:t>
            </a:r>
            <a:r>
              <a:rPr lang="tr-TR" err="1"/>
              <a:t>mines</a:t>
            </a:r>
            <a:r>
              <a:rPr lang="tr-TR"/>
              <a:t> </a:t>
            </a:r>
          </a:p>
        </p:txBody>
      </p:sp>
      <p:pic>
        <p:nvPicPr>
          <p:cNvPr id="4" name="Resim 3" descr="giyim, kişi, şahıs, bina, kask içeren bir resim&#10;&#10;Yapay zeka tarafından oluşturulan içerik yanlış olabilir.">
            <a:extLst>
              <a:ext uri="{FF2B5EF4-FFF2-40B4-BE49-F238E27FC236}">
                <a16:creationId xmlns:a16="http://schemas.microsoft.com/office/drawing/2014/main" id="{C43837B5-402A-474E-F937-4632D56473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710" y="2773694"/>
            <a:ext cx="5353420" cy="3108666"/>
          </a:xfrm>
          <a:prstGeom prst="rect">
            <a:avLst/>
          </a:prstGeom>
        </p:spPr>
      </p:pic>
      <p:sp>
        <p:nvSpPr>
          <p:cNvPr id="5" name="Metin kutusu 4">
            <a:extLst>
              <a:ext uri="{FF2B5EF4-FFF2-40B4-BE49-F238E27FC236}">
                <a16:creationId xmlns:a16="http://schemas.microsoft.com/office/drawing/2014/main" id="{367CA697-DB6D-1201-1E8B-D67B92776FD7}"/>
              </a:ext>
            </a:extLst>
          </p:cNvPr>
          <p:cNvSpPr txBox="1"/>
          <p:nvPr/>
        </p:nvSpPr>
        <p:spPr>
          <a:xfrm>
            <a:off x="6292862" y="1783172"/>
            <a:ext cx="4726252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tr-TR"/>
              <a:t>People cannot work </a:t>
            </a:r>
          </a:p>
          <a:p>
            <a:pPr marL="285750" indent="-285750">
              <a:buFont typeface="Arial"/>
              <a:buChar char="•"/>
            </a:pPr>
            <a:r>
              <a:rPr lang="tr-TR" err="1"/>
              <a:t>Decrease</a:t>
            </a:r>
            <a:r>
              <a:rPr lang="tr-TR"/>
              <a:t> of </a:t>
            </a:r>
            <a:r>
              <a:rPr lang="tr-TR" err="1"/>
              <a:t>Production</a:t>
            </a:r>
            <a:endParaRPr lang="tr-TR"/>
          </a:p>
          <a:p>
            <a:pPr marL="285750" indent="-285750">
              <a:buFont typeface="Arial"/>
              <a:buChar char="•"/>
            </a:pPr>
            <a:r>
              <a:rPr lang="tr-TR" err="1"/>
              <a:t>Decrease</a:t>
            </a:r>
            <a:r>
              <a:rPr lang="tr-TR"/>
              <a:t> of </a:t>
            </a:r>
            <a:r>
              <a:rPr lang="tr-TR" err="1"/>
              <a:t>Export</a:t>
            </a:r>
            <a:endParaRPr lang="tr-TR"/>
          </a:p>
          <a:p>
            <a:pPr marL="285750" indent="-285750">
              <a:buFont typeface="Arial"/>
              <a:buChar char="•"/>
            </a:pPr>
            <a:r>
              <a:rPr lang="tr-TR" err="1"/>
              <a:t>Impact</a:t>
            </a:r>
            <a:r>
              <a:rPr lang="tr-TR"/>
              <a:t> on </a:t>
            </a:r>
            <a:r>
              <a:rPr lang="tr-TR" err="1"/>
              <a:t>Economy</a:t>
            </a:r>
            <a:endParaRPr lang="tr-TR"/>
          </a:p>
          <a:p>
            <a:pPr marL="285750" indent="-285750">
              <a:buFont typeface="Arial"/>
              <a:buChar char="•"/>
            </a:pPr>
            <a:endParaRPr lang="tr-TR"/>
          </a:p>
        </p:txBody>
      </p:sp>
      <p:pic>
        <p:nvPicPr>
          <p:cNvPr id="6" name="Resim 5" descr="bulut, dış mekan, ağaç, dağ içeren bir resim&#10;&#10;Yapay zeka tarafından oluşturulan içerik yanlış olabilir.">
            <a:extLst>
              <a:ext uri="{FF2B5EF4-FFF2-40B4-BE49-F238E27FC236}">
                <a16:creationId xmlns:a16="http://schemas.microsoft.com/office/drawing/2014/main" id="{C5C9CF55-356F-3364-6FEB-194F816296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3429000"/>
            <a:ext cx="4102274" cy="2282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5093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330D5F20-C727-A158-9172-7DFA773B3E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tr-TR" b="1"/>
              <a:t>Trade Partners For South Africa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993994FC-79F8-72FB-3F7A-C15919A5F4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9259" y="2258835"/>
            <a:ext cx="3521902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tr-TR"/>
              <a:t>USA</a:t>
            </a:r>
          </a:p>
          <a:p>
            <a:r>
              <a:rPr lang="en-IN"/>
              <a:t>Africa</a:t>
            </a:r>
            <a:endParaRPr lang="tr-TR" err="1"/>
          </a:p>
          <a:p>
            <a:r>
              <a:rPr lang="tr-TR" err="1"/>
              <a:t>India</a:t>
            </a:r>
            <a:endParaRPr lang="tr-TR"/>
          </a:p>
          <a:p>
            <a:r>
              <a:rPr lang="tr-TR"/>
              <a:t>BRICS </a:t>
            </a:r>
            <a:r>
              <a:rPr lang="tr-TR" err="1"/>
              <a:t>and</a:t>
            </a:r>
            <a:r>
              <a:rPr lang="tr-TR"/>
              <a:t> Western </a:t>
            </a:r>
            <a:r>
              <a:rPr lang="tr-TR" err="1"/>
              <a:t>Countries</a:t>
            </a:r>
            <a:endParaRPr lang="tr-TR"/>
          </a:p>
        </p:txBody>
      </p:sp>
      <p:pic>
        <p:nvPicPr>
          <p:cNvPr id="5" name="Picture 4" descr="A map of the world with blue and red dots&#10;&#10;Description automatically generated">
            <a:extLst>
              <a:ext uri="{FF2B5EF4-FFF2-40B4-BE49-F238E27FC236}">
                <a16:creationId xmlns:a16="http://schemas.microsoft.com/office/drawing/2014/main" id="{86173DFC-F425-DF4B-84E8-3C1CCDA9B5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2450" y="1517430"/>
            <a:ext cx="5392332" cy="4220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92959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76B39DD9-9299-2406-3D15-7314AA9FDA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tr-TR" b="1"/>
              <a:t>Trade Partners For Ghana </a:t>
            </a:r>
          </a:p>
        </p:txBody>
      </p:sp>
      <p:pic>
        <p:nvPicPr>
          <p:cNvPr id="4" name="İçerik Yer Tutucusu 3" descr="harita, metin, atlas içeren bir resim&#10;&#10;Yapay zeka tarafından oluşturulan içerik yanlış olabilir.">
            <a:extLst>
              <a:ext uri="{FF2B5EF4-FFF2-40B4-BE49-F238E27FC236}">
                <a16:creationId xmlns:a16="http://schemas.microsoft.com/office/drawing/2014/main" id="{4FD3688E-CC2E-2996-290E-489197CA9DA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3880" y="1491598"/>
            <a:ext cx="4908403" cy="4351338"/>
          </a:xfrm>
        </p:spPr>
      </p:pic>
      <p:sp>
        <p:nvSpPr>
          <p:cNvPr id="5" name="Metin kutusu 4">
            <a:extLst>
              <a:ext uri="{FF2B5EF4-FFF2-40B4-BE49-F238E27FC236}">
                <a16:creationId xmlns:a16="http://schemas.microsoft.com/office/drawing/2014/main" id="{35FAF0F9-808C-DFA8-6EEC-0E454BB79058}"/>
              </a:ext>
            </a:extLst>
          </p:cNvPr>
          <p:cNvSpPr txBox="1"/>
          <p:nvPr/>
        </p:nvSpPr>
        <p:spPr>
          <a:xfrm>
            <a:off x="6096000" y="2764047"/>
            <a:ext cx="5731638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tr-TR"/>
              <a:t>Switzerland is the biggest partner</a:t>
            </a:r>
          </a:p>
          <a:p>
            <a:pPr marL="285750" indent="-285750">
              <a:buFont typeface="Arial"/>
              <a:buChar char="•"/>
            </a:pPr>
            <a:r>
              <a:rPr lang="tr-TR"/>
              <a:t>Eu countries</a:t>
            </a:r>
          </a:p>
          <a:p>
            <a:pPr marL="285750" indent="-285750">
              <a:buFont typeface="Arial"/>
              <a:buChar char="•"/>
            </a:pPr>
            <a:r>
              <a:rPr lang="tr-TR" err="1"/>
              <a:t>India</a:t>
            </a:r>
          </a:p>
          <a:p>
            <a:pPr marL="285750" indent="-285750">
              <a:buFont typeface="Arial"/>
              <a:buChar char="•"/>
            </a:pPr>
            <a:r>
              <a:rPr lang="tr-TR" err="1"/>
              <a:t>China</a:t>
            </a:r>
          </a:p>
          <a:p>
            <a:pPr marL="285750" indent="-285750">
              <a:buFont typeface="Arial"/>
              <a:buChar char="•"/>
            </a:pPr>
            <a:r>
              <a:rPr lang="tr-TR"/>
              <a:t>South </a:t>
            </a:r>
            <a:r>
              <a:rPr lang="tr-TR" err="1"/>
              <a:t>Africa</a:t>
            </a:r>
          </a:p>
        </p:txBody>
      </p:sp>
    </p:spTree>
    <p:extLst>
      <p:ext uri="{BB962C8B-B14F-4D97-AF65-F5344CB8AC3E}">
        <p14:creationId xmlns:p14="http://schemas.microsoft.com/office/powerpoint/2010/main" val="23820800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923AAFB3-356A-458F-A8D1-6EE13AB0EC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tr-TR" b="1" err="1"/>
              <a:t>History</a:t>
            </a:r>
            <a:r>
              <a:rPr lang="tr-TR" b="1"/>
              <a:t> Of </a:t>
            </a:r>
            <a:r>
              <a:rPr lang="tr-TR" b="1" err="1"/>
              <a:t>Ghana</a:t>
            </a:r>
            <a:r>
              <a:rPr lang="tr-TR" b="1"/>
              <a:t> </a:t>
            </a:r>
            <a:r>
              <a:rPr lang="tr-TR" b="1" err="1"/>
              <a:t>first</a:t>
            </a:r>
            <a:r>
              <a:rPr lang="tr-TR" b="1"/>
              <a:t> mine </a:t>
            </a:r>
            <a:r>
              <a:rPr lang="tr-TR" b="1" err="1"/>
              <a:t>fields</a:t>
            </a:r>
          </a:p>
        </p:txBody>
      </p:sp>
      <p:pic>
        <p:nvPicPr>
          <p:cNvPr id="4" name="İçerik Yer Tutucusu 3" descr="ağaç, dış mekan, ev, gökyüzü içeren bir resim&#10;&#10;Yapay zeka tarafından oluşturulan içerik yanlış olabilir.">
            <a:extLst>
              <a:ext uri="{FF2B5EF4-FFF2-40B4-BE49-F238E27FC236}">
                <a16:creationId xmlns:a16="http://schemas.microsoft.com/office/drawing/2014/main" id="{5AEE1FE3-3995-3E4B-9F7A-798D2A93015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8680" y="1406449"/>
            <a:ext cx="6029325" cy="4709525"/>
          </a:xfrm>
        </p:spPr>
      </p:pic>
      <p:sp>
        <p:nvSpPr>
          <p:cNvPr id="5" name="Metin kutusu 4">
            <a:extLst>
              <a:ext uri="{FF2B5EF4-FFF2-40B4-BE49-F238E27FC236}">
                <a16:creationId xmlns:a16="http://schemas.microsoft.com/office/drawing/2014/main" id="{E390B9E1-CDC9-F7FF-5722-77D33C9123BF}"/>
              </a:ext>
            </a:extLst>
          </p:cNvPr>
          <p:cNvSpPr txBox="1"/>
          <p:nvPr/>
        </p:nvSpPr>
        <p:spPr>
          <a:xfrm>
            <a:off x="6423670" y="2040344"/>
            <a:ext cx="2843518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tr-TR" err="1"/>
              <a:t>Obuasi</a:t>
            </a:r>
            <a:r>
              <a:rPr lang="tr-TR"/>
              <a:t> </a:t>
            </a:r>
            <a:r>
              <a:rPr lang="tr-TR" err="1"/>
              <a:t>and</a:t>
            </a:r>
            <a:r>
              <a:rPr lang="tr-TR"/>
              <a:t> </a:t>
            </a:r>
            <a:r>
              <a:rPr lang="tr-TR" err="1"/>
              <a:t>Tarkwa</a:t>
            </a:r>
          </a:p>
          <a:p>
            <a:pPr marL="285750" indent="-285750">
              <a:buFont typeface="Arial"/>
              <a:buChar char="•"/>
            </a:pPr>
            <a:r>
              <a:rPr lang="tr-TR" err="1"/>
              <a:t>Historical</a:t>
            </a:r>
            <a:r>
              <a:rPr lang="tr-TR"/>
              <a:t> </a:t>
            </a:r>
            <a:r>
              <a:rPr lang="tr-TR" err="1"/>
              <a:t>Techniques</a:t>
            </a:r>
            <a:r>
              <a:rPr lang="tr-TR"/>
              <a:t> in mine </a:t>
            </a:r>
            <a:r>
              <a:rPr lang="tr-TR" err="1"/>
              <a:t>fields</a:t>
            </a:r>
          </a:p>
          <a:p>
            <a:pPr marL="285750" indent="-285750">
              <a:buFont typeface="Arial"/>
              <a:buChar char="•"/>
            </a:pPr>
            <a:r>
              <a:rPr lang="tr-TR"/>
              <a:t>Golden </a:t>
            </a:r>
            <a:r>
              <a:rPr lang="tr-TR" err="1"/>
              <a:t>Coast</a:t>
            </a:r>
          </a:p>
        </p:txBody>
      </p:sp>
    </p:spTree>
    <p:extLst>
      <p:ext uri="{BB962C8B-B14F-4D97-AF65-F5344CB8AC3E}">
        <p14:creationId xmlns:p14="http://schemas.microsoft.com/office/powerpoint/2010/main" val="35925966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E287B27D-B318-55FC-631F-BD07971B3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tr-TR" b="1" err="1"/>
              <a:t>Ghana's</a:t>
            </a:r>
            <a:r>
              <a:rPr lang="tr-TR" b="1"/>
              <a:t> Gold </a:t>
            </a:r>
            <a:r>
              <a:rPr lang="tr-TR" b="1" err="1"/>
              <a:t>Mines</a:t>
            </a:r>
            <a:r>
              <a:rPr lang="tr-TR" b="1"/>
              <a:t> </a:t>
            </a:r>
            <a:r>
              <a:rPr lang="tr-TR" b="1" err="1"/>
              <a:t>Current</a:t>
            </a:r>
            <a:r>
              <a:rPr lang="tr-TR" b="1"/>
              <a:t> </a:t>
            </a:r>
            <a:r>
              <a:rPr lang="tr-TR" b="1" err="1"/>
              <a:t>Technology</a:t>
            </a:r>
          </a:p>
        </p:txBody>
      </p:sp>
      <p:pic>
        <p:nvPicPr>
          <p:cNvPr id="4" name="İçerik Yer Tutucusu 3" descr="gökyüzü, dış mekan, bulut, su içeren bir resim&#10;&#10;Yapay zeka tarafından oluşturulan içerik yanlış olabilir.">
            <a:extLst>
              <a:ext uri="{FF2B5EF4-FFF2-40B4-BE49-F238E27FC236}">
                <a16:creationId xmlns:a16="http://schemas.microsoft.com/office/drawing/2014/main" id="{5C9F402C-7A00-B735-AA3C-C238B314120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00609" y="1451529"/>
            <a:ext cx="4924425" cy="4567172"/>
          </a:xfrm>
        </p:spPr>
      </p:pic>
      <p:sp>
        <p:nvSpPr>
          <p:cNvPr id="5" name="Metin kutusu 4">
            <a:extLst>
              <a:ext uri="{FF2B5EF4-FFF2-40B4-BE49-F238E27FC236}">
                <a16:creationId xmlns:a16="http://schemas.microsoft.com/office/drawing/2014/main" id="{709E987F-0777-21E0-B0B8-C01C1FA84253}"/>
              </a:ext>
            </a:extLst>
          </p:cNvPr>
          <p:cNvSpPr txBox="1"/>
          <p:nvPr/>
        </p:nvSpPr>
        <p:spPr>
          <a:xfrm>
            <a:off x="5721012" y="3046306"/>
            <a:ext cx="3895380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tr-TR"/>
              <a:t>What are the new technologies</a:t>
            </a:r>
          </a:p>
          <a:p>
            <a:pPr marL="285750" indent="-285750">
              <a:buFont typeface="Arial"/>
              <a:buChar char="•"/>
            </a:pPr>
            <a:r>
              <a:rPr lang="tr-TR" err="1"/>
              <a:t>What</a:t>
            </a:r>
            <a:r>
              <a:rPr lang="tr-TR"/>
              <a:t> is </a:t>
            </a:r>
            <a:r>
              <a:rPr lang="tr-TR" err="1"/>
              <a:t>differences</a:t>
            </a:r>
            <a:r>
              <a:rPr lang="tr-TR"/>
              <a:t> </a:t>
            </a:r>
            <a:r>
              <a:rPr lang="tr-TR" err="1"/>
              <a:t>between</a:t>
            </a:r>
            <a:r>
              <a:rPr lang="tr-TR"/>
              <a:t> </a:t>
            </a:r>
            <a:r>
              <a:rPr lang="tr-TR" err="1"/>
              <a:t>past</a:t>
            </a:r>
            <a:r>
              <a:rPr lang="tr-TR"/>
              <a:t> </a:t>
            </a:r>
            <a:r>
              <a:rPr lang="tr-TR" err="1"/>
              <a:t>and</a:t>
            </a:r>
            <a:r>
              <a:rPr lang="tr-TR"/>
              <a:t> </a:t>
            </a:r>
            <a:r>
              <a:rPr lang="tr-TR" err="1"/>
              <a:t>present</a:t>
            </a:r>
            <a:endParaRPr lang="tr-TR"/>
          </a:p>
          <a:p>
            <a:pPr marL="285750" indent="-285750">
              <a:buFont typeface="Arial"/>
              <a:buChar char="•"/>
            </a:pPr>
            <a:r>
              <a:rPr lang="tr-TR" err="1"/>
              <a:t>Foreign</a:t>
            </a:r>
            <a:r>
              <a:rPr lang="tr-TR"/>
              <a:t> investment?</a:t>
            </a:r>
          </a:p>
          <a:p>
            <a:pPr marL="285750" indent="-285750">
              <a:buFont typeface="Arial"/>
              <a:buChar char="•"/>
            </a:pPr>
            <a:r>
              <a:rPr lang="tr-TR" err="1"/>
              <a:t>Does</a:t>
            </a:r>
            <a:r>
              <a:rPr lang="tr-TR"/>
              <a:t> it </a:t>
            </a:r>
            <a:r>
              <a:rPr lang="tr-TR" err="1"/>
              <a:t>effect</a:t>
            </a:r>
            <a:r>
              <a:rPr lang="tr-TR"/>
              <a:t> </a:t>
            </a:r>
            <a:r>
              <a:rPr lang="tr-TR" err="1"/>
              <a:t>export</a:t>
            </a:r>
            <a:r>
              <a:rPr lang="tr-TR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2978453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D1AC063F-E183-40EF-D1D3-EB961A17A6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tr-TR"/>
              <a:t>TARKWA </a:t>
            </a:r>
            <a:r>
              <a:rPr lang="tr-TR" err="1"/>
              <a:t>And</a:t>
            </a:r>
            <a:r>
              <a:rPr lang="tr-TR"/>
              <a:t> AKYEM Gold </a:t>
            </a:r>
            <a:r>
              <a:rPr lang="tr-TR" err="1"/>
              <a:t>Mines</a:t>
            </a:r>
          </a:p>
        </p:txBody>
      </p:sp>
      <p:pic>
        <p:nvPicPr>
          <p:cNvPr id="4" name="İçerik Yer Tutucusu 3" descr="Hava fotoğrafçılığı, ağaç, dış mekan, havadan, anten içeren bir resim&#10;&#10;Yapay zeka tarafından oluşturulan içerik yanlış olabilir.">
            <a:extLst>
              <a:ext uri="{FF2B5EF4-FFF2-40B4-BE49-F238E27FC236}">
                <a16:creationId xmlns:a16="http://schemas.microsoft.com/office/drawing/2014/main" id="{2159D0CE-BF04-8DA6-7078-FBD5013716E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23669" y="4103095"/>
            <a:ext cx="4978919" cy="2337541"/>
          </a:xfrm>
        </p:spPr>
      </p:pic>
      <p:pic>
        <p:nvPicPr>
          <p:cNvPr id="5" name="Resim 4" descr="Hava fotoğrafçılığı, havadan, anten, kuş bakışı görünüm içeren bir resim&#10;&#10;Yapay zeka tarafından oluşturulan içerik yanlış olabilir.">
            <a:extLst>
              <a:ext uri="{FF2B5EF4-FFF2-40B4-BE49-F238E27FC236}">
                <a16:creationId xmlns:a16="http://schemas.microsoft.com/office/drawing/2014/main" id="{E94DE5F3-E69A-9B70-B2B8-C4CFFE5553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661" y="1933140"/>
            <a:ext cx="6096000" cy="1887374"/>
          </a:xfrm>
          <a:prstGeom prst="rect">
            <a:avLst/>
          </a:prstGeom>
        </p:spPr>
      </p:pic>
      <p:sp>
        <p:nvSpPr>
          <p:cNvPr id="6" name="Metin kutusu 5">
            <a:extLst>
              <a:ext uri="{FF2B5EF4-FFF2-40B4-BE49-F238E27FC236}">
                <a16:creationId xmlns:a16="http://schemas.microsoft.com/office/drawing/2014/main" id="{47715DCF-F417-2D9F-04C1-DDBB4209F6FB}"/>
              </a:ext>
            </a:extLst>
          </p:cNvPr>
          <p:cNvSpPr txBox="1"/>
          <p:nvPr/>
        </p:nvSpPr>
        <p:spPr>
          <a:xfrm>
            <a:off x="6474650" y="2431739"/>
            <a:ext cx="4444368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tr-TR"/>
              <a:t>Akyem Gold Mine on the left</a:t>
            </a:r>
          </a:p>
          <a:p>
            <a:pPr marL="285750" indent="-285750">
              <a:buFont typeface="Arial"/>
              <a:buChar char="•"/>
            </a:pPr>
            <a:r>
              <a:rPr lang="tr-TR" err="1"/>
              <a:t>Employment</a:t>
            </a:r>
            <a:r>
              <a:rPr lang="tr-TR"/>
              <a:t> ?</a:t>
            </a:r>
          </a:p>
        </p:txBody>
      </p:sp>
      <p:sp>
        <p:nvSpPr>
          <p:cNvPr id="7" name="Metin kutusu 6">
            <a:extLst>
              <a:ext uri="{FF2B5EF4-FFF2-40B4-BE49-F238E27FC236}">
                <a16:creationId xmlns:a16="http://schemas.microsoft.com/office/drawing/2014/main" id="{55451264-A319-07A7-B582-692156DEC90E}"/>
              </a:ext>
            </a:extLst>
          </p:cNvPr>
          <p:cNvSpPr txBox="1"/>
          <p:nvPr/>
        </p:nvSpPr>
        <p:spPr>
          <a:xfrm>
            <a:off x="378751" y="4805083"/>
            <a:ext cx="4621321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tr-TR" err="1"/>
              <a:t>Tarkwa</a:t>
            </a:r>
            <a:r>
              <a:rPr lang="tr-TR"/>
              <a:t> Gold Mine on </a:t>
            </a:r>
            <a:r>
              <a:rPr lang="tr-TR" err="1"/>
              <a:t>the</a:t>
            </a:r>
            <a:r>
              <a:rPr lang="tr-TR"/>
              <a:t> </a:t>
            </a:r>
            <a:r>
              <a:rPr lang="tr-TR" err="1"/>
              <a:t>right</a:t>
            </a:r>
            <a:r>
              <a:rPr lang="tr-TR"/>
              <a:t> </a:t>
            </a:r>
          </a:p>
          <a:p>
            <a:pPr marL="285750" indent="-285750">
              <a:buFont typeface="Arial"/>
              <a:buChar char="•"/>
            </a:pPr>
            <a:r>
              <a:rPr lang="tr-TR" err="1"/>
              <a:t>Impact</a:t>
            </a:r>
            <a:r>
              <a:rPr lang="tr-TR"/>
              <a:t> of </a:t>
            </a:r>
            <a:r>
              <a:rPr lang="tr-TR" err="1"/>
              <a:t>the</a:t>
            </a:r>
            <a:r>
              <a:rPr lang="tr-TR"/>
              <a:t> </a:t>
            </a:r>
            <a:r>
              <a:rPr lang="tr-TR" err="1"/>
              <a:t>national</a:t>
            </a:r>
            <a:r>
              <a:rPr lang="tr-TR"/>
              <a:t> </a:t>
            </a:r>
            <a:r>
              <a:rPr lang="tr-TR" err="1"/>
              <a:t>export</a:t>
            </a:r>
          </a:p>
        </p:txBody>
      </p:sp>
    </p:spTree>
    <p:extLst>
      <p:ext uri="{BB962C8B-B14F-4D97-AF65-F5344CB8AC3E}">
        <p14:creationId xmlns:p14="http://schemas.microsoft.com/office/powerpoint/2010/main" val="13539799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16217CF4-4E21-F410-5CF3-7962224A05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tr-TR" b="1" err="1"/>
              <a:t>Current</a:t>
            </a:r>
            <a:r>
              <a:rPr lang="tr-TR" b="1"/>
              <a:t> Gold </a:t>
            </a:r>
            <a:r>
              <a:rPr lang="tr-TR" b="1" err="1"/>
              <a:t>Mines</a:t>
            </a:r>
            <a:r>
              <a:rPr lang="tr-TR" b="1"/>
              <a:t> </a:t>
            </a:r>
            <a:r>
              <a:rPr lang="tr-TR" b="1" err="1"/>
              <a:t>Equipment</a:t>
            </a:r>
            <a:r>
              <a:rPr lang="tr-TR" b="1"/>
              <a:t> </a:t>
            </a:r>
            <a:r>
              <a:rPr lang="tr-TR" b="1" err="1"/>
              <a:t>And</a:t>
            </a:r>
            <a:r>
              <a:rPr lang="tr-TR" b="1"/>
              <a:t> </a:t>
            </a:r>
            <a:r>
              <a:rPr lang="tr-TR" b="1" err="1"/>
              <a:t>Practices</a:t>
            </a:r>
            <a:r>
              <a:rPr lang="tr-TR" b="1"/>
              <a:t> </a:t>
            </a:r>
            <a:r>
              <a:rPr lang="tr-TR" b="1" err="1"/>
              <a:t>In</a:t>
            </a:r>
            <a:r>
              <a:rPr lang="tr-TR" b="1"/>
              <a:t> </a:t>
            </a:r>
            <a:r>
              <a:rPr lang="tr-TR" b="1" err="1"/>
              <a:t>Ghana</a:t>
            </a:r>
          </a:p>
        </p:txBody>
      </p:sp>
      <p:pic>
        <p:nvPicPr>
          <p:cNvPr id="4" name="İçerik Yer Tutucusu 3" descr="dış mekan, inşaat ekipmanı, taşımak, nakletmek, ağaç içeren bir resim&#10;&#10;Yapay zeka tarafından oluşturulan içerik yanlış olabilir.">
            <a:extLst>
              <a:ext uri="{FF2B5EF4-FFF2-40B4-BE49-F238E27FC236}">
                <a16:creationId xmlns:a16="http://schemas.microsoft.com/office/drawing/2014/main" id="{8A637BD7-8E18-7917-60D1-33AC8475273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9476" y="1840175"/>
            <a:ext cx="5199529" cy="2702117"/>
          </a:xfrm>
        </p:spPr>
      </p:pic>
      <p:sp>
        <p:nvSpPr>
          <p:cNvPr id="5" name="Metin kutusu 4">
            <a:extLst>
              <a:ext uri="{FF2B5EF4-FFF2-40B4-BE49-F238E27FC236}">
                <a16:creationId xmlns:a16="http://schemas.microsoft.com/office/drawing/2014/main" id="{13068FB7-1A01-6F90-FFFF-C0AD5885F1B3}"/>
              </a:ext>
            </a:extLst>
          </p:cNvPr>
          <p:cNvSpPr txBox="1"/>
          <p:nvPr/>
        </p:nvSpPr>
        <p:spPr>
          <a:xfrm>
            <a:off x="7272603" y="4387992"/>
            <a:ext cx="4848402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tr-TR"/>
              <a:t>Metin eklemek için tıklayın</a:t>
            </a:r>
          </a:p>
        </p:txBody>
      </p:sp>
      <p:sp>
        <p:nvSpPr>
          <p:cNvPr id="6" name="Metin kutusu 5">
            <a:extLst>
              <a:ext uri="{FF2B5EF4-FFF2-40B4-BE49-F238E27FC236}">
                <a16:creationId xmlns:a16="http://schemas.microsoft.com/office/drawing/2014/main" id="{7FB22723-6C60-3335-5AAF-0BFECD39A4F5}"/>
              </a:ext>
            </a:extLst>
          </p:cNvPr>
          <p:cNvSpPr txBox="1"/>
          <p:nvPr/>
        </p:nvSpPr>
        <p:spPr>
          <a:xfrm>
            <a:off x="6782996" y="2544903"/>
            <a:ext cx="4341011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tr-TR"/>
              <a:t>Modern </a:t>
            </a:r>
            <a:r>
              <a:rPr lang="tr-TR" err="1"/>
              <a:t>Machinery</a:t>
            </a:r>
          </a:p>
          <a:p>
            <a:pPr marL="285750" indent="-285750">
              <a:buFont typeface="Arial"/>
              <a:buChar char="•"/>
            </a:pPr>
            <a:r>
              <a:rPr lang="tr-TR" err="1"/>
              <a:t>Practices</a:t>
            </a:r>
          </a:p>
        </p:txBody>
      </p:sp>
      <p:sp>
        <p:nvSpPr>
          <p:cNvPr id="7" name="Metin kutusu 6">
            <a:extLst>
              <a:ext uri="{FF2B5EF4-FFF2-40B4-BE49-F238E27FC236}">
                <a16:creationId xmlns:a16="http://schemas.microsoft.com/office/drawing/2014/main" id="{01F3B890-6858-4399-8FA6-0DFB200036C0}"/>
              </a:ext>
            </a:extLst>
          </p:cNvPr>
          <p:cNvSpPr txBox="1"/>
          <p:nvPr/>
        </p:nvSpPr>
        <p:spPr>
          <a:xfrm>
            <a:off x="507190" y="5126536"/>
            <a:ext cx="4604102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tr-TR" err="1"/>
              <a:t>Are</a:t>
            </a:r>
            <a:r>
              <a:rPr lang="tr-TR"/>
              <a:t> </a:t>
            </a:r>
            <a:r>
              <a:rPr lang="tr-TR" err="1"/>
              <a:t>traditions</a:t>
            </a:r>
            <a:r>
              <a:rPr lang="tr-TR"/>
              <a:t> </a:t>
            </a:r>
            <a:r>
              <a:rPr lang="tr-TR" err="1"/>
              <a:t>use</a:t>
            </a:r>
            <a:r>
              <a:rPr lang="tr-TR"/>
              <a:t> at </a:t>
            </a:r>
            <a:r>
              <a:rPr lang="tr-TR" err="1"/>
              <a:t>the</a:t>
            </a:r>
            <a:r>
              <a:rPr lang="tr-TR"/>
              <a:t> moment?</a:t>
            </a:r>
          </a:p>
          <a:p>
            <a:pPr marL="285750" indent="-285750">
              <a:buFont typeface="Arial"/>
              <a:buChar char="•"/>
            </a:pPr>
            <a:r>
              <a:rPr lang="tr-TR" err="1"/>
              <a:t>Technology</a:t>
            </a:r>
            <a:r>
              <a:rPr lang="tr-TR"/>
              <a:t> </a:t>
            </a:r>
            <a:r>
              <a:rPr lang="tr-TR" err="1"/>
              <a:t>for</a:t>
            </a:r>
            <a:r>
              <a:rPr lang="tr-TR"/>
              <a:t> </a:t>
            </a:r>
            <a:r>
              <a:rPr lang="tr-TR" err="1"/>
              <a:t>enviromental</a:t>
            </a:r>
            <a:r>
              <a:rPr lang="tr-TR"/>
              <a:t> </a:t>
            </a:r>
            <a:r>
              <a:rPr lang="tr-TR" err="1"/>
              <a:t>effect</a:t>
            </a:r>
            <a:endParaRPr lang="tr-TR"/>
          </a:p>
        </p:txBody>
      </p:sp>
      <p:pic>
        <p:nvPicPr>
          <p:cNvPr id="8" name="Resim 7" descr="giyim, kişi, şahıs, dış mekan, bitki içeren bir resim&#10;&#10;Yapay zeka tarafından oluşturulan içerik yanlış olabilir.">
            <a:extLst>
              <a:ext uri="{FF2B5EF4-FFF2-40B4-BE49-F238E27FC236}">
                <a16:creationId xmlns:a16="http://schemas.microsoft.com/office/drawing/2014/main" id="{B80D2199-0A60-CFBA-A055-882AF5958A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9005" y="4118116"/>
            <a:ext cx="5542197" cy="2486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9351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5D0FCF6D-0CE7-22B8-18BD-E7FEFC27D0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tr-TR" b="1" err="1"/>
              <a:t>Challanges</a:t>
            </a:r>
            <a:r>
              <a:rPr lang="tr-TR" b="1"/>
              <a:t> </a:t>
            </a:r>
            <a:r>
              <a:rPr lang="tr-TR" b="1" err="1"/>
              <a:t>In</a:t>
            </a:r>
            <a:r>
              <a:rPr lang="tr-TR" b="1"/>
              <a:t> </a:t>
            </a:r>
            <a:r>
              <a:rPr lang="tr-TR" b="1" err="1"/>
              <a:t>Ghana's</a:t>
            </a:r>
            <a:r>
              <a:rPr lang="tr-TR" b="1"/>
              <a:t> </a:t>
            </a:r>
            <a:r>
              <a:rPr lang="tr-TR" b="1" err="1"/>
              <a:t>Mines</a:t>
            </a:r>
          </a:p>
        </p:txBody>
      </p:sp>
      <p:pic>
        <p:nvPicPr>
          <p:cNvPr id="4" name="İçerik Yer Tutucusu 3" descr="dış mekan, yer, su, kumsal içeren bir resim&#10;&#10;Yapay zeka tarafından oluşturulan içerik yanlış olabilir.">
            <a:extLst>
              <a:ext uri="{FF2B5EF4-FFF2-40B4-BE49-F238E27FC236}">
                <a16:creationId xmlns:a16="http://schemas.microsoft.com/office/drawing/2014/main" id="{D54A5B9E-E1D8-C275-7F25-99AF18A9C2B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2432" y="1418815"/>
            <a:ext cx="6075123" cy="2660936"/>
          </a:xfrm>
        </p:spPr>
      </p:pic>
      <p:sp>
        <p:nvSpPr>
          <p:cNvPr id="6" name="Metin kutusu 5">
            <a:extLst>
              <a:ext uri="{FF2B5EF4-FFF2-40B4-BE49-F238E27FC236}">
                <a16:creationId xmlns:a16="http://schemas.microsoft.com/office/drawing/2014/main" id="{AA862CCB-A9F6-5C6E-9B90-AC561CD29F3A}"/>
              </a:ext>
            </a:extLst>
          </p:cNvPr>
          <p:cNvSpPr txBox="1"/>
          <p:nvPr/>
        </p:nvSpPr>
        <p:spPr>
          <a:xfrm>
            <a:off x="6421033" y="1546286"/>
            <a:ext cx="3583758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tr-TR"/>
              <a:t>Human </a:t>
            </a:r>
            <a:r>
              <a:rPr lang="tr-TR" err="1"/>
              <a:t>rights</a:t>
            </a:r>
            <a:r>
              <a:rPr lang="tr-TR"/>
              <a:t>' </a:t>
            </a:r>
            <a:r>
              <a:rPr lang="tr-TR" err="1"/>
              <a:t>abusive</a:t>
            </a:r>
          </a:p>
          <a:p>
            <a:pPr marL="285750" indent="-285750">
              <a:buFont typeface="Arial"/>
              <a:buChar char="•"/>
            </a:pPr>
            <a:r>
              <a:rPr lang="tr-TR"/>
              <a:t>High </a:t>
            </a:r>
            <a:r>
              <a:rPr lang="tr-TR" err="1"/>
              <a:t>competition</a:t>
            </a:r>
            <a:r>
              <a:rPr lang="tr-TR"/>
              <a:t> </a:t>
            </a:r>
            <a:r>
              <a:rPr lang="tr-TR" err="1"/>
              <a:t>increase</a:t>
            </a:r>
            <a:r>
              <a:rPr lang="tr-TR"/>
              <a:t> illegal </a:t>
            </a:r>
            <a:r>
              <a:rPr lang="tr-TR" err="1"/>
              <a:t>mines</a:t>
            </a:r>
            <a:endParaRPr lang="tr-TR"/>
          </a:p>
          <a:p>
            <a:pPr marL="285750" indent="-285750">
              <a:buFont typeface="Arial"/>
              <a:buChar char="•"/>
            </a:pPr>
            <a:r>
              <a:rPr lang="tr-TR" err="1"/>
              <a:t>Potential</a:t>
            </a:r>
            <a:r>
              <a:rPr lang="tr-TR"/>
              <a:t> </a:t>
            </a:r>
            <a:r>
              <a:rPr lang="tr-TR" err="1"/>
              <a:t>harm</a:t>
            </a:r>
            <a:r>
              <a:rPr lang="tr-TR"/>
              <a:t> </a:t>
            </a:r>
            <a:r>
              <a:rPr lang="tr-TR" err="1"/>
              <a:t>for</a:t>
            </a:r>
            <a:r>
              <a:rPr lang="tr-TR"/>
              <a:t> </a:t>
            </a:r>
            <a:r>
              <a:rPr lang="tr-TR" err="1"/>
              <a:t>environment</a:t>
            </a:r>
            <a:endParaRPr lang="tr-TR"/>
          </a:p>
        </p:txBody>
      </p:sp>
      <p:pic>
        <p:nvPicPr>
          <p:cNvPr id="8" name="Resim 7" descr="yer, dış mekan, toprak, çamur içeren bir resim&#10;&#10;Yapay zeka tarafından oluşturulan içerik yanlış olabilir.">
            <a:extLst>
              <a:ext uri="{FF2B5EF4-FFF2-40B4-BE49-F238E27FC236}">
                <a16:creationId xmlns:a16="http://schemas.microsoft.com/office/drawing/2014/main" id="{BF1E1909-510E-86F0-2EF7-9C3495C56C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2316" y="3417517"/>
            <a:ext cx="5388628" cy="3248417"/>
          </a:xfrm>
          <a:prstGeom prst="rect">
            <a:avLst/>
          </a:prstGeom>
        </p:spPr>
      </p:pic>
      <p:sp>
        <p:nvSpPr>
          <p:cNvPr id="9" name="Metin kutusu 8">
            <a:extLst>
              <a:ext uri="{FF2B5EF4-FFF2-40B4-BE49-F238E27FC236}">
                <a16:creationId xmlns:a16="http://schemas.microsoft.com/office/drawing/2014/main" id="{E0E91B4A-2433-03BB-C23F-4B867FE3F74B}"/>
              </a:ext>
            </a:extLst>
          </p:cNvPr>
          <p:cNvSpPr txBox="1"/>
          <p:nvPr/>
        </p:nvSpPr>
        <p:spPr>
          <a:xfrm>
            <a:off x="488598" y="4566328"/>
            <a:ext cx="5928957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tr-TR"/>
              <a:t>Child </a:t>
            </a:r>
            <a:r>
              <a:rPr lang="tr-TR" err="1"/>
              <a:t>labor</a:t>
            </a:r>
            <a:endParaRPr lang="tr-TR"/>
          </a:p>
          <a:p>
            <a:pPr marL="285750" indent="-285750">
              <a:buFont typeface="Arial"/>
              <a:buChar char="•"/>
            </a:pPr>
            <a:r>
              <a:rPr lang="tr-TR" err="1"/>
              <a:t>Harsh</a:t>
            </a:r>
            <a:r>
              <a:rPr lang="tr-TR"/>
              <a:t> </a:t>
            </a:r>
            <a:r>
              <a:rPr lang="tr-TR" err="1"/>
              <a:t>environment</a:t>
            </a:r>
          </a:p>
          <a:p>
            <a:pPr marL="285750" indent="-285750">
              <a:buFont typeface="Arial"/>
              <a:buChar char="•"/>
            </a:pPr>
            <a:r>
              <a:rPr lang="tr-TR" err="1"/>
              <a:t>Water</a:t>
            </a:r>
            <a:r>
              <a:rPr lang="tr-TR"/>
              <a:t> </a:t>
            </a:r>
            <a:r>
              <a:rPr lang="tr-TR" err="1"/>
              <a:t>resources</a:t>
            </a:r>
            <a:r>
              <a:rPr lang="tr-TR"/>
              <a:t>?</a:t>
            </a:r>
          </a:p>
          <a:p>
            <a:pPr marL="285750" indent="-285750">
              <a:buFont typeface="Arial"/>
              <a:buChar char="•"/>
            </a:pPr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3437321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BB3939E0-FE97-216D-C59C-EC167C149C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tr-TR" sz="2800" b="1" err="1"/>
              <a:t>Ghana'sTrade</a:t>
            </a:r>
            <a:r>
              <a:rPr lang="tr-TR" sz="2800" b="1"/>
              <a:t> </a:t>
            </a:r>
            <a:r>
              <a:rPr lang="tr-TR" sz="2800" b="1" err="1"/>
              <a:t>Union</a:t>
            </a:r>
            <a:r>
              <a:rPr lang="tr-TR" sz="2800" b="1"/>
              <a:t> </a:t>
            </a:r>
            <a:r>
              <a:rPr lang="tr-TR" sz="2800" b="1" err="1"/>
              <a:t>and</a:t>
            </a:r>
            <a:r>
              <a:rPr lang="tr-TR" sz="2800" b="1"/>
              <a:t> </a:t>
            </a:r>
            <a:r>
              <a:rPr lang="tr-TR" sz="2800" b="1" err="1"/>
              <a:t>Environmental</a:t>
            </a:r>
            <a:r>
              <a:rPr lang="tr-TR" sz="2800" b="1"/>
              <a:t> </a:t>
            </a:r>
            <a:r>
              <a:rPr lang="tr-TR" sz="2800" b="1" err="1"/>
              <a:t>Challenges</a:t>
            </a:r>
            <a:r>
              <a:rPr lang="tr-TR" sz="2800" b="1"/>
              <a:t> </a:t>
            </a:r>
            <a:r>
              <a:rPr lang="tr-TR" sz="2800" b="1" err="1"/>
              <a:t>In</a:t>
            </a:r>
            <a:r>
              <a:rPr lang="tr-TR" sz="2800" b="1"/>
              <a:t> Gold </a:t>
            </a:r>
            <a:r>
              <a:rPr lang="tr-TR" sz="2800" b="1" err="1"/>
              <a:t>Industry</a:t>
            </a:r>
            <a:endParaRPr lang="tr-TR" b="1" err="1"/>
          </a:p>
        </p:txBody>
      </p:sp>
      <p:pic>
        <p:nvPicPr>
          <p:cNvPr id="4" name="İçerik Yer Tutucusu 3" descr="dış mekan, resim, yer, kirlenme içeren bir resim&#10;&#10;Yapay zeka tarafından oluşturulan içerik yanlış olabilir.">
            <a:extLst>
              <a:ext uri="{FF2B5EF4-FFF2-40B4-BE49-F238E27FC236}">
                <a16:creationId xmlns:a16="http://schemas.microsoft.com/office/drawing/2014/main" id="{80EAA3F5-3516-83AC-A31B-5CE66B31104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6775" y="1565835"/>
            <a:ext cx="5838825" cy="3069660"/>
          </a:xfrm>
        </p:spPr>
      </p:pic>
      <p:sp>
        <p:nvSpPr>
          <p:cNvPr id="5" name="Metin kutusu 4">
            <a:extLst>
              <a:ext uri="{FF2B5EF4-FFF2-40B4-BE49-F238E27FC236}">
                <a16:creationId xmlns:a16="http://schemas.microsoft.com/office/drawing/2014/main" id="{04ECB216-9E38-70F4-2A41-61B3B03C3906}"/>
              </a:ext>
            </a:extLst>
          </p:cNvPr>
          <p:cNvSpPr txBox="1"/>
          <p:nvPr/>
        </p:nvSpPr>
        <p:spPr>
          <a:xfrm>
            <a:off x="6299762" y="1739810"/>
            <a:ext cx="4027579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tr-TR" err="1"/>
              <a:t>Due</a:t>
            </a:r>
            <a:r>
              <a:rPr lang="tr-TR"/>
              <a:t> </a:t>
            </a:r>
            <a:r>
              <a:rPr lang="tr-TR" err="1"/>
              <a:t>to</a:t>
            </a:r>
            <a:r>
              <a:rPr lang="tr-TR"/>
              <a:t> </a:t>
            </a:r>
            <a:r>
              <a:rPr lang="tr-TR" err="1"/>
              <a:t>cynanide</a:t>
            </a:r>
            <a:r>
              <a:rPr lang="tr-TR"/>
              <a:t> </a:t>
            </a:r>
            <a:r>
              <a:rPr lang="tr-TR" err="1"/>
              <a:t>and</a:t>
            </a:r>
            <a:r>
              <a:rPr lang="tr-TR"/>
              <a:t> </a:t>
            </a:r>
            <a:r>
              <a:rPr lang="tr-TR" err="1"/>
              <a:t>mercury</a:t>
            </a:r>
            <a:r>
              <a:rPr lang="tr-TR"/>
              <a:t> </a:t>
            </a:r>
            <a:r>
              <a:rPr lang="tr-TR" err="1"/>
              <a:t>water</a:t>
            </a:r>
            <a:r>
              <a:rPr lang="tr-TR"/>
              <a:t> </a:t>
            </a:r>
            <a:r>
              <a:rPr lang="tr-TR" err="1"/>
              <a:t>pollution</a:t>
            </a:r>
          </a:p>
          <a:p>
            <a:pPr marL="285750" indent="-285750">
              <a:buFont typeface="Arial"/>
              <a:buChar char="•"/>
            </a:pPr>
            <a:r>
              <a:rPr lang="tr-TR"/>
              <a:t>Illegal mines trigger deforestation</a:t>
            </a:r>
          </a:p>
          <a:p>
            <a:pPr marL="285750" indent="-285750">
              <a:buFont typeface="Arial"/>
              <a:buChar char="•"/>
            </a:pPr>
            <a:endParaRPr lang="tr-TR"/>
          </a:p>
        </p:txBody>
      </p:sp>
      <p:pic>
        <p:nvPicPr>
          <p:cNvPr id="6" name="Resim 5" descr="heykel, adam, insan, dış mekan, kişi, şahıs içeren bir resim&#10;&#10;Yapay zeka tarafından oluşturulan içerik yanlış olabilir.">
            <a:extLst>
              <a:ext uri="{FF2B5EF4-FFF2-40B4-BE49-F238E27FC236}">
                <a16:creationId xmlns:a16="http://schemas.microsoft.com/office/drawing/2014/main" id="{EA96B5F8-83DC-E1F1-24C2-3514B2284D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9762" y="3394844"/>
            <a:ext cx="4355314" cy="3351518"/>
          </a:xfrm>
          <a:prstGeom prst="rect">
            <a:avLst/>
          </a:prstGeom>
        </p:spPr>
      </p:pic>
      <p:sp>
        <p:nvSpPr>
          <p:cNvPr id="8" name="Metin kutusu 7">
            <a:extLst>
              <a:ext uri="{FF2B5EF4-FFF2-40B4-BE49-F238E27FC236}">
                <a16:creationId xmlns:a16="http://schemas.microsoft.com/office/drawing/2014/main" id="{046AF1D9-3C14-1104-903F-03BB3189EFAF}"/>
              </a:ext>
            </a:extLst>
          </p:cNvPr>
          <p:cNvSpPr txBox="1"/>
          <p:nvPr/>
        </p:nvSpPr>
        <p:spPr>
          <a:xfrm>
            <a:off x="460937" y="5070603"/>
            <a:ext cx="5553111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tr-TR" err="1"/>
              <a:t>Childs</a:t>
            </a:r>
            <a:r>
              <a:rPr lang="tr-TR"/>
              <a:t> </a:t>
            </a:r>
            <a:r>
              <a:rPr lang="tr-TR" err="1"/>
              <a:t>take</a:t>
            </a:r>
            <a:r>
              <a:rPr lang="tr-TR"/>
              <a:t> </a:t>
            </a:r>
            <a:r>
              <a:rPr lang="tr-TR" err="1"/>
              <a:t>risky</a:t>
            </a:r>
            <a:r>
              <a:rPr lang="tr-TR"/>
              <a:t> </a:t>
            </a:r>
            <a:r>
              <a:rPr lang="tr-TR" err="1"/>
              <a:t>actions</a:t>
            </a:r>
          </a:p>
          <a:p>
            <a:pPr marL="285750" indent="-285750">
              <a:buFont typeface="Arial"/>
              <a:buChar char="•"/>
            </a:pPr>
            <a:r>
              <a:rPr lang="tr-TR"/>
              <a:t>Risk of </a:t>
            </a:r>
            <a:r>
              <a:rPr lang="tr-TR" err="1"/>
              <a:t>Water</a:t>
            </a:r>
            <a:r>
              <a:rPr lang="tr-TR"/>
              <a:t> </a:t>
            </a:r>
            <a:r>
              <a:rPr lang="tr-TR" err="1"/>
              <a:t>diminish</a:t>
            </a:r>
            <a:r>
              <a:rPr lang="tr-TR"/>
              <a:t> </a:t>
            </a:r>
          </a:p>
          <a:p>
            <a:pPr marL="285750" indent="-285750">
              <a:buFont typeface="Arial"/>
              <a:buChar char="•"/>
            </a:pPr>
            <a:r>
              <a:rPr lang="tr-TR" err="1"/>
              <a:t>Long-term</a:t>
            </a:r>
            <a:r>
              <a:rPr lang="tr-TR"/>
              <a:t> </a:t>
            </a:r>
            <a:r>
              <a:rPr lang="tr-TR" err="1"/>
              <a:t>effect</a:t>
            </a:r>
            <a:r>
              <a:rPr lang="tr-TR"/>
              <a:t> of </a:t>
            </a:r>
            <a:r>
              <a:rPr lang="tr-TR" err="1"/>
              <a:t>agriculture</a:t>
            </a:r>
            <a:r>
              <a:rPr lang="tr-TR"/>
              <a:t> </a:t>
            </a:r>
            <a:r>
              <a:rPr lang="tr-TR" err="1"/>
              <a:t>and</a:t>
            </a:r>
            <a:r>
              <a:rPr lang="tr-TR"/>
              <a:t> </a:t>
            </a:r>
            <a:r>
              <a:rPr lang="tr-TR" err="1"/>
              <a:t>health</a:t>
            </a:r>
          </a:p>
        </p:txBody>
      </p:sp>
    </p:spTree>
    <p:extLst>
      <p:ext uri="{BB962C8B-B14F-4D97-AF65-F5344CB8AC3E}">
        <p14:creationId xmlns:p14="http://schemas.microsoft.com/office/powerpoint/2010/main" val="2362378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B54B70C6-0BFD-4832-19EC-ABC8552612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tr-TR" b="1" err="1"/>
              <a:t>Historical</a:t>
            </a:r>
            <a:r>
              <a:rPr lang="tr-TR" b="1"/>
              <a:t> Mine </a:t>
            </a:r>
            <a:r>
              <a:rPr lang="tr-TR" b="1" err="1"/>
              <a:t>Fields</a:t>
            </a:r>
            <a:r>
              <a:rPr lang="tr-TR" b="1"/>
              <a:t> </a:t>
            </a:r>
            <a:r>
              <a:rPr lang="tr-TR" b="1" err="1"/>
              <a:t>In</a:t>
            </a:r>
            <a:r>
              <a:rPr lang="tr-TR" b="1"/>
              <a:t> South </a:t>
            </a:r>
            <a:r>
              <a:rPr lang="tr-TR" b="1" err="1"/>
              <a:t>Africa</a:t>
            </a:r>
          </a:p>
        </p:txBody>
      </p:sp>
      <p:pic>
        <p:nvPicPr>
          <p:cNvPr id="4" name="İçerik Yer Tutucusu 3" descr="dağ, dış mekan, manzara, jeoloji içeren bir resim&#10;&#10;Yapay zeka tarafından oluşturulan içerik yanlış olabilir.">
            <a:extLst>
              <a:ext uri="{FF2B5EF4-FFF2-40B4-BE49-F238E27FC236}">
                <a16:creationId xmlns:a16="http://schemas.microsoft.com/office/drawing/2014/main" id="{117C3BD8-A20F-3E63-E209-35F4BA583BC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3235" y="1580191"/>
            <a:ext cx="6096000" cy="3309284"/>
          </a:xfrm>
        </p:spPr>
      </p:pic>
      <p:sp>
        <p:nvSpPr>
          <p:cNvPr id="5" name="Metin kutusu 4">
            <a:extLst>
              <a:ext uri="{FF2B5EF4-FFF2-40B4-BE49-F238E27FC236}">
                <a16:creationId xmlns:a16="http://schemas.microsoft.com/office/drawing/2014/main" id="{0AC00B49-B1CB-7154-C500-F0AB200260A5}"/>
              </a:ext>
            </a:extLst>
          </p:cNvPr>
          <p:cNvSpPr txBox="1"/>
          <p:nvPr/>
        </p:nvSpPr>
        <p:spPr>
          <a:xfrm>
            <a:off x="677334" y="5196677"/>
            <a:ext cx="5287142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tr-TR" err="1"/>
              <a:t>Before</a:t>
            </a:r>
            <a:r>
              <a:rPr lang="tr-TR"/>
              <a:t> 1994 South </a:t>
            </a:r>
            <a:r>
              <a:rPr lang="tr-TR" err="1"/>
              <a:t>Africa</a:t>
            </a:r>
            <a:r>
              <a:rPr lang="tr-TR"/>
              <a:t> top </a:t>
            </a:r>
            <a:r>
              <a:rPr lang="tr-TR" err="1"/>
              <a:t>gold</a:t>
            </a:r>
            <a:r>
              <a:rPr lang="tr-TR"/>
              <a:t> </a:t>
            </a:r>
            <a:r>
              <a:rPr lang="tr-TR" err="1"/>
              <a:t>producer</a:t>
            </a:r>
            <a:endParaRPr lang="tr-TR"/>
          </a:p>
          <a:p>
            <a:pPr marL="285750" indent="-285750">
              <a:buFont typeface="Arial"/>
              <a:buChar char="•"/>
            </a:pPr>
            <a:r>
              <a:rPr lang="tr-TR" err="1"/>
              <a:t>Colonism</a:t>
            </a:r>
            <a:r>
              <a:rPr lang="tr-TR"/>
              <a:t> </a:t>
            </a:r>
            <a:r>
              <a:rPr lang="tr-TR" err="1"/>
              <a:t>effect</a:t>
            </a:r>
            <a:r>
              <a:rPr lang="tr-TR"/>
              <a:t>?</a:t>
            </a:r>
          </a:p>
          <a:p>
            <a:pPr marL="285750" indent="-285750">
              <a:buFont typeface="Arial"/>
              <a:buChar char="•"/>
            </a:pPr>
            <a:r>
              <a:rPr lang="tr-TR"/>
              <a:t>How </a:t>
            </a:r>
            <a:r>
              <a:rPr lang="tr-TR" err="1"/>
              <a:t>does</a:t>
            </a:r>
            <a:r>
              <a:rPr lang="tr-TR"/>
              <a:t> it </a:t>
            </a:r>
            <a:r>
              <a:rPr lang="tr-TR" err="1"/>
              <a:t>help</a:t>
            </a:r>
            <a:r>
              <a:rPr lang="tr-TR"/>
              <a:t> South </a:t>
            </a:r>
            <a:r>
              <a:rPr lang="tr-TR" err="1"/>
              <a:t>Africa's</a:t>
            </a:r>
            <a:r>
              <a:rPr lang="tr-TR"/>
              <a:t> </a:t>
            </a:r>
            <a:r>
              <a:rPr lang="tr-TR" err="1"/>
              <a:t>domination</a:t>
            </a:r>
            <a:endParaRPr lang="tr-TR"/>
          </a:p>
        </p:txBody>
      </p:sp>
      <p:pic>
        <p:nvPicPr>
          <p:cNvPr id="6" name="Resim 5" descr="yer, kaya, mağara, dış mekan içeren bir resim&#10;&#10;Yapay zeka tarafından oluşturulan içerik yanlış olabilir.">
            <a:extLst>
              <a:ext uri="{FF2B5EF4-FFF2-40B4-BE49-F238E27FC236}">
                <a16:creationId xmlns:a16="http://schemas.microsoft.com/office/drawing/2014/main" id="{78B8BE6A-271C-DFDD-DF86-F4E15565B3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4083" y="3357282"/>
            <a:ext cx="2811903" cy="3311047"/>
          </a:xfrm>
          <a:prstGeom prst="rect">
            <a:avLst/>
          </a:prstGeom>
        </p:spPr>
      </p:pic>
      <p:sp>
        <p:nvSpPr>
          <p:cNvPr id="8" name="Metin kutusu 7">
            <a:extLst>
              <a:ext uri="{FF2B5EF4-FFF2-40B4-BE49-F238E27FC236}">
                <a16:creationId xmlns:a16="http://schemas.microsoft.com/office/drawing/2014/main" id="{064242D9-30AA-F8EF-A14E-2889FA41741F}"/>
              </a:ext>
            </a:extLst>
          </p:cNvPr>
          <p:cNvSpPr txBox="1"/>
          <p:nvPr/>
        </p:nvSpPr>
        <p:spPr>
          <a:xfrm>
            <a:off x="6866964" y="2320675"/>
            <a:ext cx="2611381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tr-TR" err="1"/>
              <a:t>One</a:t>
            </a:r>
            <a:r>
              <a:rPr lang="tr-TR"/>
              <a:t> of </a:t>
            </a:r>
            <a:r>
              <a:rPr lang="tr-TR" err="1"/>
              <a:t>the</a:t>
            </a:r>
            <a:r>
              <a:rPr lang="tr-TR"/>
              <a:t> </a:t>
            </a:r>
            <a:r>
              <a:rPr lang="tr-TR" err="1"/>
              <a:t>world's</a:t>
            </a:r>
            <a:r>
              <a:rPr lang="tr-TR"/>
              <a:t> </a:t>
            </a:r>
            <a:r>
              <a:rPr lang="tr-TR" err="1"/>
              <a:t>richest</a:t>
            </a:r>
            <a:r>
              <a:rPr lang="tr-TR"/>
              <a:t> </a:t>
            </a:r>
            <a:r>
              <a:rPr lang="tr-TR" err="1"/>
              <a:t>gold</a:t>
            </a:r>
            <a:r>
              <a:rPr lang="tr-TR"/>
              <a:t> mine</a:t>
            </a:r>
          </a:p>
        </p:txBody>
      </p:sp>
    </p:spTree>
    <p:extLst>
      <p:ext uri="{BB962C8B-B14F-4D97-AF65-F5344CB8AC3E}">
        <p14:creationId xmlns:p14="http://schemas.microsoft.com/office/powerpoint/2010/main" val="4192892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62898DD0-EA78-1767-5852-207CC02534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tr-TR" sz="3200" b="1" err="1">
                <a:latin typeface="Aptos Display"/>
              </a:rPr>
              <a:t>Analyses</a:t>
            </a:r>
            <a:r>
              <a:rPr lang="tr-TR" sz="3200" b="1">
                <a:latin typeface="Aptos Display"/>
              </a:rPr>
              <a:t> </a:t>
            </a:r>
            <a:r>
              <a:rPr lang="tr-TR" sz="3200" b="1" err="1">
                <a:latin typeface="Aptos Display"/>
              </a:rPr>
              <a:t>Witwaters</a:t>
            </a:r>
            <a:r>
              <a:rPr lang="tr-TR" sz="3200" b="1">
                <a:latin typeface="Aptos Display"/>
              </a:rPr>
              <a:t> </a:t>
            </a:r>
            <a:r>
              <a:rPr lang="tr-TR" sz="3200" b="1" err="1">
                <a:latin typeface="Aptos Display"/>
              </a:rPr>
              <a:t>Basin</a:t>
            </a:r>
            <a:r>
              <a:rPr lang="tr-TR" sz="3200" b="1">
                <a:latin typeface="Aptos Display"/>
              </a:rPr>
              <a:t> Gold Mine</a:t>
            </a:r>
            <a:endParaRPr lang="tr-TR" sz="3200">
              <a:latin typeface="Aptos Display"/>
            </a:endParaRPr>
          </a:p>
        </p:txBody>
      </p:sp>
      <p:pic>
        <p:nvPicPr>
          <p:cNvPr id="4" name="İçerik Yer Tutucusu 3" descr="harita, metin, diyagram, atlas içeren bir resim&#10;&#10;Yapay zeka tarafından oluşturulan içerik yanlış olabilir.">
            <a:extLst>
              <a:ext uri="{FF2B5EF4-FFF2-40B4-BE49-F238E27FC236}">
                <a16:creationId xmlns:a16="http://schemas.microsoft.com/office/drawing/2014/main" id="{1963C97C-F2FA-3994-4A8E-626A187476B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7890" y="1170109"/>
            <a:ext cx="6096000" cy="3188480"/>
          </a:xfrm>
        </p:spPr>
      </p:pic>
      <p:sp>
        <p:nvSpPr>
          <p:cNvPr id="5" name="Metin kutusu 4">
            <a:extLst>
              <a:ext uri="{FF2B5EF4-FFF2-40B4-BE49-F238E27FC236}">
                <a16:creationId xmlns:a16="http://schemas.microsoft.com/office/drawing/2014/main" id="{25F810B5-7D0B-A393-9667-F76B436255F6}"/>
              </a:ext>
            </a:extLst>
          </p:cNvPr>
          <p:cNvSpPr txBox="1"/>
          <p:nvPr/>
        </p:nvSpPr>
        <p:spPr>
          <a:xfrm>
            <a:off x="345283" y="4578934"/>
            <a:ext cx="5616246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tr-TR" err="1"/>
              <a:t>The</a:t>
            </a:r>
            <a:r>
              <a:rPr lang="tr-TR"/>
              <a:t> mine </a:t>
            </a:r>
            <a:r>
              <a:rPr lang="tr-TR" err="1"/>
              <a:t>locates</a:t>
            </a:r>
            <a:r>
              <a:rPr lang="tr-TR"/>
              <a:t> 70-80 </a:t>
            </a:r>
            <a:r>
              <a:rPr lang="tr-TR" err="1"/>
              <a:t>kilometers</a:t>
            </a:r>
            <a:r>
              <a:rPr lang="tr-TR"/>
              <a:t> </a:t>
            </a:r>
            <a:r>
              <a:rPr lang="tr-TR" err="1"/>
              <a:t>west</a:t>
            </a:r>
            <a:r>
              <a:rPr lang="tr-TR"/>
              <a:t> of Johannesburg</a:t>
            </a:r>
          </a:p>
          <a:p>
            <a:pPr marL="285750" indent="-285750">
              <a:buFont typeface="Arial"/>
              <a:buChar char="•"/>
            </a:pPr>
            <a:r>
              <a:rPr lang="tr-TR" err="1"/>
              <a:t>Produces</a:t>
            </a:r>
            <a:r>
              <a:rPr lang="tr-TR"/>
              <a:t> </a:t>
            </a:r>
            <a:r>
              <a:rPr lang="tr-TR" err="1"/>
              <a:t>more</a:t>
            </a:r>
            <a:r>
              <a:rPr lang="tr-TR"/>
              <a:t> </a:t>
            </a:r>
            <a:r>
              <a:rPr lang="tr-TR" err="1"/>
              <a:t>than</a:t>
            </a:r>
            <a:r>
              <a:rPr lang="tr-TR"/>
              <a:t> 100 </a:t>
            </a:r>
            <a:r>
              <a:rPr lang="tr-TR" err="1"/>
              <a:t>million</a:t>
            </a:r>
            <a:r>
              <a:rPr lang="tr-TR"/>
              <a:t> </a:t>
            </a:r>
            <a:r>
              <a:rPr lang="tr-TR" err="1"/>
              <a:t>ounces</a:t>
            </a:r>
            <a:r>
              <a:rPr lang="tr-TR"/>
              <a:t> in </a:t>
            </a:r>
            <a:r>
              <a:rPr lang="tr-TR" err="1"/>
              <a:t>last</a:t>
            </a:r>
            <a:r>
              <a:rPr lang="tr-TR"/>
              <a:t> 50 </a:t>
            </a:r>
            <a:r>
              <a:rPr lang="tr-TR" err="1"/>
              <a:t>year</a:t>
            </a:r>
            <a:r>
              <a:rPr lang="tr-TR"/>
              <a:t> </a:t>
            </a:r>
          </a:p>
          <a:p>
            <a:pPr marL="285750" indent="-285750">
              <a:buFont typeface="Arial"/>
              <a:buChar char="•"/>
            </a:pPr>
            <a:r>
              <a:rPr lang="tr-TR" err="1"/>
              <a:t>What</a:t>
            </a:r>
            <a:r>
              <a:rPr lang="tr-TR"/>
              <a:t> </a:t>
            </a:r>
            <a:r>
              <a:rPr lang="tr-TR" err="1"/>
              <a:t>are</a:t>
            </a:r>
            <a:r>
              <a:rPr lang="tr-TR"/>
              <a:t> </a:t>
            </a:r>
            <a:r>
              <a:rPr lang="tr-TR" err="1"/>
              <a:t>the</a:t>
            </a:r>
            <a:r>
              <a:rPr lang="tr-TR"/>
              <a:t> </a:t>
            </a:r>
            <a:r>
              <a:rPr lang="tr-TR" err="1"/>
              <a:t>contribution</a:t>
            </a:r>
            <a:r>
              <a:rPr lang="tr-TR"/>
              <a:t> </a:t>
            </a:r>
            <a:r>
              <a:rPr lang="tr-TR" err="1"/>
              <a:t>for</a:t>
            </a:r>
            <a:r>
              <a:rPr lang="tr-TR"/>
              <a:t> </a:t>
            </a:r>
            <a:r>
              <a:rPr lang="tr-TR" err="1"/>
              <a:t>the</a:t>
            </a:r>
            <a:r>
              <a:rPr lang="tr-TR"/>
              <a:t> country </a:t>
            </a:r>
          </a:p>
          <a:p>
            <a:pPr marL="285750" indent="-285750">
              <a:buFont typeface="Arial"/>
              <a:buChar char="•"/>
            </a:pPr>
            <a:r>
              <a:rPr lang="tr-TR" err="1"/>
              <a:t>Future</a:t>
            </a:r>
            <a:r>
              <a:rPr lang="tr-TR"/>
              <a:t> </a:t>
            </a:r>
            <a:r>
              <a:rPr lang="tr-TR" err="1"/>
              <a:t>problems</a:t>
            </a:r>
            <a:r>
              <a:rPr lang="tr-TR"/>
              <a:t>?</a:t>
            </a:r>
          </a:p>
        </p:txBody>
      </p:sp>
      <p:pic>
        <p:nvPicPr>
          <p:cNvPr id="6" name="Resim 5" descr="püskürük kaya, doğa, dış mekan, kaya içeren bir resim&#10;&#10;Yapay zeka tarafından oluşturulan içerik yanlış olabilir.">
            <a:extLst>
              <a:ext uri="{FF2B5EF4-FFF2-40B4-BE49-F238E27FC236}">
                <a16:creationId xmlns:a16="http://schemas.microsoft.com/office/drawing/2014/main" id="{45218AB8-E8C6-4160-EC09-860113C8B6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7893" y="4096784"/>
            <a:ext cx="4979096" cy="3321659"/>
          </a:xfrm>
          <a:prstGeom prst="rect">
            <a:avLst/>
          </a:prstGeom>
        </p:spPr>
      </p:pic>
      <p:sp>
        <p:nvSpPr>
          <p:cNvPr id="7" name="Metin kutusu 6">
            <a:extLst>
              <a:ext uri="{FF2B5EF4-FFF2-40B4-BE49-F238E27FC236}">
                <a16:creationId xmlns:a16="http://schemas.microsoft.com/office/drawing/2014/main" id="{91D9901F-A07F-3E8E-5C06-5436C42C7A07}"/>
              </a:ext>
            </a:extLst>
          </p:cNvPr>
          <p:cNvSpPr txBox="1"/>
          <p:nvPr/>
        </p:nvSpPr>
        <p:spPr>
          <a:xfrm>
            <a:off x="6370503" y="2446486"/>
            <a:ext cx="3436243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tr-TR"/>
              <a:t>On </a:t>
            </a:r>
            <a:r>
              <a:rPr lang="tr-TR" err="1"/>
              <a:t>the</a:t>
            </a:r>
            <a:r>
              <a:rPr lang="tr-TR"/>
              <a:t> </a:t>
            </a:r>
            <a:r>
              <a:rPr lang="tr-TR" err="1"/>
              <a:t>left</a:t>
            </a:r>
            <a:r>
              <a:rPr lang="tr-TR"/>
              <a:t> </a:t>
            </a:r>
            <a:r>
              <a:rPr lang="tr-TR" err="1"/>
              <a:t>raw</a:t>
            </a:r>
            <a:r>
              <a:rPr lang="tr-TR"/>
              <a:t> </a:t>
            </a:r>
            <a:r>
              <a:rPr lang="tr-TR" err="1"/>
              <a:t>gold</a:t>
            </a:r>
            <a:r>
              <a:rPr lang="tr-TR"/>
              <a:t> mine </a:t>
            </a:r>
            <a:r>
              <a:rPr lang="tr-TR" err="1"/>
              <a:t>from</a:t>
            </a:r>
            <a:r>
              <a:rPr lang="tr-TR"/>
              <a:t> </a:t>
            </a:r>
            <a:r>
              <a:rPr lang="tr-TR" err="1"/>
              <a:t>Witwaters</a:t>
            </a:r>
          </a:p>
        </p:txBody>
      </p:sp>
    </p:spTree>
    <p:extLst>
      <p:ext uri="{BB962C8B-B14F-4D97-AF65-F5344CB8AC3E}">
        <p14:creationId xmlns:p14="http://schemas.microsoft.com/office/powerpoint/2010/main" val="11780502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CC9BE1C4-48C5-53EE-DC3E-A348BBBD2E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tr-TR" b="1" err="1"/>
              <a:t>Mining</a:t>
            </a:r>
            <a:r>
              <a:rPr lang="tr-TR" b="1"/>
              <a:t> </a:t>
            </a:r>
            <a:r>
              <a:rPr lang="tr-TR" b="1" err="1"/>
              <a:t>Activities</a:t>
            </a:r>
            <a:r>
              <a:rPr lang="tr-TR" b="1"/>
              <a:t> </a:t>
            </a:r>
            <a:r>
              <a:rPr lang="tr-TR" b="1" err="1"/>
              <a:t>Current</a:t>
            </a:r>
            <a:r>
              <a:rPr lang="tr-TR" b="1"/>
              <a:t> South </a:t>
            </a:r>
            <a:r>
              <a:rPr lang="tr-TR" b="1" err="1"/>
              <a:t>Africa</a:t>
            </a:r>
          </a:p>
        </p:txBody>
      </p:sp>
      <p:pic>
        <p:nvPicPr>
          <p:cNvPr id="4" name="İçerik Yer Tutucusu 3" descr="araba lastiği, tekerlek, madencilik, taşıt, araç içeren bir resim&#10;&#10;Yapay zeka tarafından oluşturulan içerik yanlış olabilir.">
            <a:extLst>
              <a:ext uri="{FF2B5EF4-FFF2-40B4-BE49-F238E27FC236}">
                <a16:creationId xmlns:a16="http://schemas.microsoft.com/office/drawing/2014/main" id="{A066C103-65E0-FFBF-7003-A0D7C1ABF34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9746" y="1571755"/>
            <a:ext cx="5753100" cy="3224670"/>
          </a:xfrm>
        </p:spPr>
      </p:pic>
      <p:pic>
        <p:nvPicPr>
          <p:cNvPr id="6" name="Resim 5" descr="giyim, dış mekan, adam, insan, ayakkabı içeren bir resim&#10;&#10;Yapay zeka tarafından oluşturulan içerik yanlış olabilir.">
            <a:extLst>
              <a:ext uri="{FF2B5EF4-FFF2-40B4-BE49-F238E27FC236}">
                <a16:creationId xmlns:a16="http://schemas.microsoft.com/office/drawing/2014/main" id="{692E7607-E291-3FEF-BC64-415293EA02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2846" y="3242293"/>
            <a:ext cx="5437414" cy="3217102"/>
          </a:xfrm>
          <a:prstGeom prst="rect">
            <a:avLst/>
          </a:prstGeom>
        </p:spPr>
      </p:pic>
      <p:sp>
        <p:nvSpPr>
          <p:cNvPr id="7" name="Metin kutusu 6">
            <a:extLst>
              <a:ext uri="{FF2B5EF4-FFF2-40B4-BE49-F238E27FC236}">
                <a16:creationId xmlns:a16="http://schemas.microsoft.com/office/drawing/2014/main" id="{2702B02C-E2E9-B3AB-24E7-1B2458E7DF33}"/>
              </a:ext>
            </a:extLst>
          </p:cNvPr>
          <p:cNvSpPr txBox="1"/>
          <p:nvPr/>
        </p:nvSpPr>
        <p:spPr>
          <a:xfrm>
            <a:off x="232072" y="5176835"/>
            <a:ext cx="5393377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tr-TR"/>
              <a:t>On </a:t>
            </a:r>
            <a:r>
              <a:rPr lang="tr-TR" err="1"/>
              <a:t>the</a:t>
            </a:r>
            <a:r>
              <a:rPr lang="tr-TR"/>
              <a:t> </a:t>
            </a:r>
            <a:r>
              <a:rPr lang="tr-TR" err="1"/>
              <a:t>picture</a:t>
            </a:r>
            <a:r>
              <a:rPr lang="tr-TR"/>
              <a:t> on </a:t>
            </a:r>
            <a:r>
              <a:rPr lang="tr-TR" err="1"/>
              <a:t>the</a:t>
            </a:r>
            <a:r>
              <a:rPr lang="tr-TR"/>
              <a:t> </a:t>
            </a:r>
            <a:r>
              <a:rPr lang="tr-TR" err="1"/>
              <a:t>right</a:t>
            </a:r>
            <a:r>
              <a:rPr lang="tr-TR"/>
              <a:t>: </a:t>
            </a:r>
            <a:r>
              <a:rPr lang="tr-TR" err="1"/>
              <a:t>people</a:t>
            </a:r>
            <a:r>
              <a:rPr lang="tr-TR"/>
              <a:t> </a:t>
            </a:r>
            <a:r>
              <a:rPr lang="tr-TR" err="1"/>
              <a:t>working</a:t>
            </a:r>
            <a:r>
              <a:rPr lang="tr-TR"/>
              <a:t> </a:t>
            </a:r>
            <a:r>
              <a:rPr lang="tr-TR" err="1"/>
              <a:t>with</a:t>
            </a:r>
            <a:r>
              <a:rPr lang="tr-TR"/>
              <a:t> </a:t>
            </a:r>
            <a:r>
              <a:rPr lang="tr-TR" err="1"/>
              <a:t>muscle</a:t>
            </a:r>
            <a:r>
              <a:rPr lang="tr-TR"/>
              <a:t> </a:t>
            </a:r>
            <a:r>
              <a:rPr lang="tr-TR" err="1"/>
              <a:t>power</a:t>
            </a:r>
            <a:r>
              <a:rPr lang="tr-TR"/>
              <a:t> </a:t>
            </a:r>
            <a:r>
              <a:rPr lang="tr-TR" err="1"/>
              <a:t>and</a:t>
            </a:r>
            <a:r>
              <a:rPr lang="tr-TR"/>
              <a:t> old </a:t>
            </a:r>
            <a:r>
              <a:rPr lang="tr-TR" err="1"/>
              <a:t>equipments</a:t>
            </a:r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2196690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8DF5A718-19FB-ECAA-D695-4B8F1F27E5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tr-TR" sz="4000" b="1"/>
              <a:t>Problems Employees Facing In South Africa Mines</a:t>
            </a:r>
            <a:endParaRPr lang="tr-TR" b="1"/>
          </a:p>
        </p:txBody>
      </p:sp>
      <p:pic>
        <p:nvPicPr>
          <p:cNvPr id="4" name="İçerik Yer Tutucusu 3">
            <a:extLst>
              <a:ext uri="{FF2B5EF4-FFF2-40B4-BE49-F238E27FC236}">
                <a16:creationId xmlns:a16="http://schemas.microsoft.com/office/drawing/2014/main" id="{324C5625-FE40-407D-65BF-7565BE5EFA1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3110" y="2223601"/>
            <a:ext cx="5415581" cy="2402187"/>
          </a:xfrm>
        </p:spPr>
      </p:pic>
      <p:pic>
        <p:nvPicPr>
          <p:cNvPr id="6" name="Resim 5" descr="gökyüzü, dış mekan, giyim, kişi, şahıs içeren bir resim&#10;&#10;Yapay zeka tarafından oluşturulan içerik yanlış olabilir.">
            <a:extLst>
              <a:ext uri="{FF2B5EF4-FFF2-40B4-BE49-F238E27FC236}">
                <a16:creationId xmlns:a16="http://schemas.microsoft.com/office/drawing/2014/main" id="{58CB6955-34C7-BD3F-0277-6E050013F6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5132" y="4047528"/>
            <a:ext cx="5027692" cy="2702301"/>
          </a:xfrm>
          <a:prstGeom prst="rect">
            <a:avLst/>
          </a:prstGeom>
        </p:spPr>
      </p:pic>
      <p:sp>
        <p:nvSpPr>
          <p:cNvPr id="7" name="Metin kutusu 6">
            <a:extLst>
              <a:ext uri="{FF2B5EF4-FFF2-40B4-BE49-F238E27FC236}">
                <a16:creationId xmlns:a16="http://schemas.microsoft.com/office/drawing/2014/main" id="{A6F0E1D6-7F56-EB2E-6D9E-7B08FABA6007}"/>
              </a:ext>
            </a:extLst>
          </p:cNvPr>
          <p:cNvSpPr txBox="1"/>
          <p:nvPr/>
        </p:nvSpPr>
        <p:spPr>
          <a:xfrm>
            <a:off x="5685132" y="2419179"/>
            <a:ext cx="4229833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tr-TR" err="1"/>
              <a:t>Due</a:t>
            </a:r>
            <a:r>
              <a:rPr lang="tr-TR"/>
              <a:t> </a:t>
            </a:r>
            <a:r>
              <a:rPr lang="tr-TR" err="1"/>
              <a:t>to</a:t>
            </a:r>
            <a:r>
              <a:rPr lang="tr-TR"/>
              <a:t> </a:t>
            </a:r>
            <a:r>
              <a:rPr lang="tr-TR" err="1"/>
              <a:t>high</a:t>
            </a:r>
            <a:r>
              <a:rPr lang="tr-TR"/>
              <a:t> </a:t>
            </a:r>
            <a:r>
              <a:rPr lang="tr-TR" err="1"/>
              <a:t>competition</a:t>
            </a:r>
            <a:r>
              <a:rPr lang="tr-TR"/>
              <a:t> illegal </a:t>
            </a:r>
            <a:r>
              <a:rPr lang="tr-TR" err="1"/>
              <a:t>mines</a:t>
            </a:r>
            <a:r>
              <a:rPr lang="tr-TR"/>
              <a:t> </a:t>
            </a:r>
          </a:p>
          <a:p>
            <a:pPr marL="285750" indent="-285750">
              <a:buFont typeface="Arial"/>
              <a:buChar char="•"/>
            </a:pPr>
            <a:r>
              <a:rPr lang="tr-TR"/>
              <a:t>Death because of illegal mines safety</a:t>
            </a:r>
          </a:p>
          <a:p>
            <a:pPr marL="285750" indent="-285750">
              <a:buFont typeface="Arial"/>
              <a:buChar char="•"/>
            </a:pPr>
            <a:r>
              <a:rPr lang="tr-TR"/>
              <a:t>Productivity?</a:t>
            </a:r>
          </a:p>
        </p:txBody>
      </p:sp>
      <p:sp>
        <p:nvSpPr>
          <p:cNvPr id="8" name="Metin kutusu 7">
            <a:extLst>
              <a:ext uri="{FF2B5EF4-FFF2-40B4-BE49-F238E27FC236}">
                <a16:creationId xmlns:a16="http://schemas.microsoft.com/office/drawing/2014/main" id="{2464A95B-8CB9-0043-BF2B-2F6B9F58D45A}"/>
              </a:ext>
            </a:extLst>
          </p:cNvPr>
          <p:cNvSpPr txBox="1"/>
          <p:nvPr/>
        </p:nvSpPr>
        <p:spPr>
          <a:xfrm>
            <a:off x="486512" y="5398679"/>
            <a:ext cx="5609488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tr-TR" err="1"/>
              <a:t>Lack</a:t>
            </a:r>
            <a:r>
              <a:rPr lang="tr-TR"/>
              <a:t> of </a:t>
            </a:r>
            <a:r>
              <a:rPr lang="tr-TR" err="1"/>
              <a:t>Job</a:t>
            </a:r>
            <a:r>
              <a:rPr lang="tr-TR"/>
              <a:t> </a:t>
            </a:r>
            <a:r>
              <a:rPr lang="tr-TR" err="1"/>
              <a:t>due</a:t>
            </a:r>
            <a:r>
              <a:rPr lang="tr-TR"/>
              <a:t> </a:t>
            </a:r>
            <a:r>
              <a:rPr lang="tr-TR" err="1"/>
              <a:t>to</a:t>
            </a:r>
            <a:r>
              <a:rPr lang="tr-TR"/>
              <a:t> illegal </a:t>
            </a:r>
            <a:r>
              <a:rPr lang="tr-TR" err="1"/>
              <a:t>mines</a:t>
            </a:r>
          </a:p>
          <a:p>
            <a:pPr marL="285750" indent="-285750">
              <a:buFont typeface="Arial"/>
              <a:buChar char="•"/>
            </a:pPr>
            <a:r>
              <a:rPr lang="tr-TR" err="1"/>
              <a:t>Costs</a:t>
            </a:r>
            <a:r>
              <a:rPr lang="tr-TR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355000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CF7A9048-03F4-A322-44DA-A45FA3CC99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tr-TR" b="1"/>
              <a:t>Covid-19 </a:t>
            </a:r>
            <a:r>
              <a:rPr lang="tr-TR" b="1" err="1"/>
              <a:t>Effects</a:t>
            </a:r>
            <a:r>
              <a:rPr lang="tr-TR" b="1"/>
              <a:t> on South </a:t>
            </a:r>
            <a:r>
              <a:rPr lang="tr-TR" b="1" err="1"/>
              <a:t>Africa</a:t>
            </a:r>
            <a:r>
              <a:rPr lang="tr-TR" b="1"/>
              <a:t> Gold Mine</a:t>
            </a:r>
          </a:p>
        </p:txBody>
      </p:sp>
      <p:pic>
        <p:nvPicPr>
          <p:cNvPr id="4" name="İçerik Yer Tutucusu 3" descr="A graph of different colored bars&#10;&#10;Description automatically generated">
            <a:extLst>
              <a:ext uri="{FF2B5EF4-FFF2-40B4-BE49-F238E27FC236}">
                <a16:creationId xmlns:a16="http://schemas.microsoft.com/office/drawing/2014/main" id="{FC0B3741-6D22-0278-1BF2-A63ADBFB584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25635" y="1340108"/>
            <a:ext cx="3322414" cy="3051223"/>
          </a:xfrm>
        </p:spPr>
      </p:pic>
      <p:pic>
        <p:nvPicPr>
          <p:cNvPr id="5" name="Resim 4" descr="A graph of blue bars&#10;&#10;Description automatically generated with medium confidence">
            <a:extLst>
              <a:ext uri="{FF2B5EF4-FFF2-40B4-BE49-F238E27FC236}">
                <a16:creationId xmlns:a16="http://schemas.microsoft.com/office/drawing/2014/main" id="{2C540162-25BD-FE35-6BB5-1BF664FB16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7668" y="3905833"/>
            <a:ext cx="4446334" cy="2834897"/>
          </a:xfrm>
          <a:prstGeom prst="rect">
            <a:avLst/>
          </a:prstGeom>
        </p:spPr>
      </p:pic>
      <p:sp>
        <p:nvSpPr>
          <p:cNvPr id="6" name="Metin kutusu 5">
            <a:extLst>
              <a:ext uri="{FF2B5EF4-FFF2-40B4-BE49-F238E27FC236}">
                <a16:creationId xmlns:a16="http://schemas.microsoft.com/office/drawing/2014/main" id="{0B9C13EF-81DE-8906-3ED8-057B0BF0595D}"/>
              </a:ext>
            </a:extLst>
          </p:cNvPr>
          <p:cNvSpPr txBox="1"/>
          <p:nvPr/>
        </p:nvSpPr>
        <p:spPr>
          <a:xfrm>
            <a:off x="4291523" y="2269715"/>
            <a:ext cx="452752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tr-TR" err="1"/>
              <a:t>Pre-Covid</a:t>
            </a:r>
            <a:r>
              <a:rPr lang="tr-TR"/>
              <a:t> </a:t>
            </a:r>
            <a:r>
              <a:rPr lang="tr-TR" err="1"/>
              <a:t>Era</a:t>
            </a:r>
            <a:r>
              <a:rPr lang="tr-TR"/>
              <a:t> on </a:t>
            </a:r>
            <a:r>
              <a:rPr lang="tr-TR" err="1"/>
              <a:t>the</a:t>
            </a:r>
            <a:r>
              <a:rPr lang="tr-TR"/>
              <a:t> </a:t>
            </a:r>
            <a:r>
              <a:rPr lang="tr-TR" err="1"/>
              <a:t>left</a:t>
            </a:r>
          </a:p>
        </p:txBody>
      </p:sp>
      <p:sp>
        <p:nvSpPr>
          <p:cNvPr id="9" name="Metin kutusu 8">
            <a:extLst>
              <a:ext uri="{FF2B5EF4-FFF2-40B4-BE49-F238E27FC236}">
                <a16:creationId xmlns:a16="http://schemas.microsoft.com/office/drawing/2014/main" id="{6411777E-ACFA-67C1-40A9-F6B57C097AEB}"/>
              </a:ext>
            </a:extLst>
          </p:cNvPr>
          <p:cNvSpPr txBox="1"/>
          <p:nvPr/>
        </p:nvSpPr>
        <p:spPr>
          <a:xfrm>
            <a:off x="433167" y="4675211"/>
            <a:ext cx="3414882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tr-TR"/>
              <a:t>Covid-19 </a:t>
            </a:r>
            <a:r>
              <a:rPr lang="tr-TR" err="1"/>
              <a:t>Period</a:t>
            </a:r>
            <a:r>
              <a:rPr lang="tr-TR"/>
              <a:t> On </a:t>
            </a:r>
            <a:r>
              <a:rPr lang="tr-TR" err="1"/>
              <a:t>the</a:t>
            </a:r>
            <a:r>
              <a:rPr lang="tr-TR"/>
              <a:t> </a:t>
            </a:r>
            <a:r>
              <a:rPr lang="tr-TR" err="1"/>
              <a:t>right</a:t>
            </a:r>
          </a:p>
        </p:txBody>
      </p:sp>
      <p:sp>
        <p:nvSpPr>
          <p:cNvPr id="10" name="Metin kutusu 9">
            <a:extLst>
              <a:ext uri="{FF2B5EF4-FFF2-40B4-BE49-F238E27FC236}">
                <a16:creationId xmlns:a16="http://schemas.microsoft.com/office/drawing/2014/main" id="{DF4E4F55-2BF3-2742-4A11-6CC25D480BD9}"/>
              </a:ext>
            </a:extLst>
          </p:cNvPr>
          <p:cNvSpPr txBox="1"/>
          <p:nvPr/>
        </p:nvSpPr>
        <p:spPr>
          <a:xfrm>
            <a:off x="4291523" y="2742049"/>
            <a:ext cx="4162484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tr-TR" err="1"/>
              <a:t>What</a:t>
            </a:r>
            <a:r>
              <a:rPr lang="tr-TR"/>
              <a:t> </a:t>
            </a:r>
            <a:r>
              <a:rPr lang="tr-TR" err="1"/>
              <a:t>are</a:t>
            </a:r>
            <a:r>
              <a:rPr lang="tr-TR"/>
              <a:t> </a:t>
            </a:r>
            <a:r>
              <a:rPr lang="tr-TR" err="1"/>
              <a:t>the</a:t>
            </a:r>
            <a:r>
              <a:rPr lang="tr-TR"/>
              <a:t> </a:t>
            </a:r>
            <a:r>
              <a:rPr lang="tr-TR" err="1"/>
              <a:t>production</a:t>
            </a:r>
            <a:r>
              <a:rPr lang="tr-TR"/>
              <a:t> </a:t>
            </a:r>
            <a:r>
              <a:rPr lang="tr-TR" err="1"/>
              <a:t>effects</a:t>
            </a:r>
            <a:r>
              <a:rPr lang="tr-TR"/>
              <a:t>?</a:t>
            </a:r>
          </a:p>
          <a:p>
            <a:pPr marL="285750" indent="-285750">
              <a:buFont typeface="Arial"/>
              <a:buChar char="•"/>
            </a:pPr>
            <a:r>
              <a:rPr lang="tr-TR" err="1"/>
              <a:t>Lockdowns</a:t>
            </a:r>
            <a:r>
              <a:rPr lang="tr-TR"/>
              <a:t> </a:t>
            </a:r>
            <a:r>
              <a:rPr lang="tr-TR" err="1"/>
              <a:t>affect</a:t>
            </a:r>
            <a:r>
              <a:rPr lang="tr-TR"/>
              <a:t> </a:t>
            </a:r>
            <a:r>
              <a:rPr lang="tr-TR" err="1"/>
              <a:t>the</a:t>
            </a:r>
            <a:r>
              <a:rPr lang="tr-TR"/>
              <a:t> </a:t>
            </a:r>
            <a:r>
              <a:rPr lang="tr-TR" err="1"/>
              <a:t>Economy</a:t>
            </a:r>
            <a:endParaRPr lang="tr-TR"/>
          </a:p>
          <a:p>
            <a:pPr marL="285750" indent="-285750">
              <a:buFont typeface="Arial"/>
              <a:buChar char="•"/>
            </a:pPr>
            <a:r>
              <a:rPr lang="tr-TR" err="1"/>
              <a:t>Loses</a:t>
            </a:r>
            <a:r>
              <a:rPr lang="tr-TR"/>
              <a:t>?</a:t>
            </a:r>
          </a:p>
        </p:txBody>
      </p:sp>
      <p:sp>
        <p:nvSpPr>
          <p:cNvPr id="11" name="Metin kutusu 10">
            <a:extLst>
              <a:ext uri="{FF2B5EF4-FFF2-40B4-BE49-F238E27FC236}">
                <a16:creationId xmlns:a16="http://schemas.microsoft.com/office/drawing/2014/main" id="{DA0C7D74-51FC-3F36-5790-63D468C46C39}"/>
              </a:ext>
            </a:extLst>
          </p:cNvPr>
          <p:cNvSpPr txBox="1"/>
          <p:nvPr/>
        </p:nvSpPr>
        <p:spPr>
          <a:xfrm>
            <a:off x="433167" y="5250547"/>
            <a:ext cx="6248425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tr-TR" err="1"/>
              <a:t>Strategies</a:t>
            </a:r>
            <a:r>
              <a:rPr lang="tr-TR"/>
              <a:t> </a:t>
            </a:r>
          </a:p>
          <a:p>
            <a:pPr marL="285750" indent="-285750">
              <a:buFont typeface="Arial"/>
              <a:buChar char="•"/>
            </a:pPr>
            <a:r>
              <a:rPr lang="tr-TR"/>
              <a:t>Long-term plans</a:t>
            </a:r>
          </a:p>
          <a:p>
            <a:pPr marL="285750" indent="-285750">
              <a:buFont typeface="Arial"/>
              <a:buChar char="•"/>
            </a:pPr>
            <a:r>
              <a:rPr lang="tr-TR" err="1"/>
              <a:t>Outcome</a:t>
            </a:r>
            <a:r>
              <a:rPr lang="tr-TR"/>
              <a:t> </a:t>
            </a:r>
            <a:r>
              <a:rPr lang="tr-TR" err="1"/>
              <a:t>problems</a:t>
            </a:r>
            <a:r>
              <a:rPr lang="tr-TR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99708842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5CEE6031-67B0-4DC4-416D-3DE1696AA4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tr-TR" b="1"/>
              <a:t>Chanllenges For Both Countries  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54A39248-7869-317B-84B5-0BD7389F8C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tr-TR"/>
              <a:t>Cost</a:t>
            </a:r>
          </a:p>
          <a:p>
            <a:r>
              <a:rPr lang="tr-TR"/>
              <a:t>It implications</a:t>
            </a:r>
            <a:endParaRPr lang="en-IN"/>
          </a:p>
          <a:p>
            <a:r>
              <a:rPr lang="tr-TR"/>
              <a:t>Culture</a:t>
            </a:r>
            <a:endParaRPr lang="en-IN"/>
          </a:p>
          <a:p>
            <a:r>
              <a:rPr lang="tr-TR"/>
              <a:t>Expertise</a:t>
            </a:r>
            <a:endParaRPr lang="en-IN"/>
          </a:p>
          <a:p>
            <a:r>
              <a:rPr lang="tr-TR"/>
              <a:t>Labor Issues</a:t>
            </a:r>
            <a:endParaRPr lang="en-IN"/>
          </a:p>
          <a:p>
            <a:r>
              <a:rPr lang="tr-TR"/>
              <a:t>Economic Pressures</a:t>
            </a:r>
            <a:endParaRPr lang="en-IN"/>
          </a:p>
          <a:p>
            <a:r>
              <a:rPr lang="tr-TR"/>
              <a:t>Regulations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73D91DE-5432-43D8-49F3-83B5B22674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9243" y="1524819"/>
            <a:ext cx="4326628" cy="4326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600636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F99B852B-B6D6-B39C-30BC-9234324003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693" y="135481"/>
            <a:ext cx="10515600" cy="1325563"/>
          </a:xfrm>
        </p:spPr>
        <p:txBody>
          <a:bodyPr/>
          <a:lstStyle/>
          <a:p>
            <a:pPr algn="ctr"/>
            <a:r>
              <a:rPr lang="tr-TR" err="1"/>
              <a:t>Member</a:t>
            </a:r>
            <a:r>
              <a:rPr lang="tr-TR"/>
              <a:t> </a:t>
            </a:r>
            <a:r>
              <a:rPr lang="tr-TR" err="1"/>
              <a:t>And</a:t>
            </a:r>
            <a:r>
              <a:rPr lang="tr-TR"/>
              <a:t> </a:t>
            </a:r>
            <a:r>
              <a:rPr lang="tr-TR" err="1"/>
              <a:t>Sustainability</a:t>
            </a:r>
            <a:r>
              <a:rPr lang="tr-TR"/>
              <a:t> </a:t>
            </a:r>
            <a:r>
              <a:rPr lang="tr-TR" err="1"/>
              <a:t>AfCFTA</a:t>
            </a:r>
          </a:p>
        </p:txBody>
      </p:sp>
      <p:pic>
        <p:nvPicPr>
          <p:cNvPr id="4" name="İçerik Yer Tutucusu 3" descr="metin, harita, ekran görüntüsü, diyagram içeren bir resim&#10;&#10;Yapay zeka tarafından oluşturulan içerik yanlış olabilir.">
            <a:extLst>
              <a:ext uri="{FF2B5EF4-FFF2-40B4-BE49-F238E27FC236}">
                <a16:creationId xmlns:a16="http://schemas.microsoft.com/office/drawing/2014/main" id="{B4D9D9A9-84BD-751A-71EF-DCE5D1D682F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5645" y="1381029"/>
            <a:ext cx="5075856" cy="4095942"/>
          </a:xfrm>
        </p:spPr>
      </p:pic>
      <p:sp>
        <p:nvSpPr>
          <p:cNvPr id="9" name="İçerik Yer Tutucusu 2">
            <a:extLst>
              <a:ext uri="{FF2B5EF4-FFF2-40B4-BE49-F238E27FC236}">
                <a16:creationId xmlns:a16="http://schemas.microsoft.com/office/drawing/2014/main" id="{2AB328D7-1D85-E4E4-F9F4-75EB6676DCA7}"/>
              </a:ext>
            </a:extLst>
          </p:cNvPr>
          <p:cNvSpPr txBox="1">
            <a:spLocks/>
          </p:cNvSpPr>
          <p:nvPr/>
        </p:nvSpPr>
        <p:spPr>
          <a:xfrm>
            <a:off x="5341501" y="2447599"/>
            <a:ext cx="5176619" cy="388077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Wingdings" panose="05000000000000000000" pitchFamily="2" charset="2"/>
              <a:buChar char="Ø"/>
            </a:pPr>
            <a:r>
              <a:rPr lang="tr-TR"/>
              <a:t>Left figures is that which countries member of it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tr-TR"/>
              <a:t>Contribution for region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tr-TR"/>
              <a:t>Gold trades effects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tr-TR"/>
              <a:t>Regional integrations increase it?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tr-TR"/>
          </a:p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81148201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6E20EF58-D78F-460E-5FAF-6E90D66819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tr-TR" err="1"/>
              <a:t>Strategies</a:t>
            </a:r>
            <a:r>
              <a:rPr lang="tr-TR"/>
              <a:t> </a:t>
            </a:r>
            <a:r>
              <a:rPr lang="tr-TR" err="1"/>
              <a:t>For</a:t>
            </a:r>
            <a:r>
              <a:rPr lang="tr-TR"/>
              <a:t> </a:t>
            </a:r>
            <a:r>
              <a:rPr lang="tr-TR" err="1"/>
              <a:t>Both</a:t>
            </a:r>
            <a:r>
              <a:rPr lang="tr-TR"/>
              <a:t> Country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A3503D37-BE80-4435-8DE8-8CEE95DF81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tr-TR"/>
              <a:t>Product </a:t>
            </a:r>
            <a:r>
              <a:rPr lang="tr-TR" err="1"/>
              <a:t>differentiation</a:t>
            </a:r>
          </a:p>
          <a:p>
            <a:r>
              <a:rPr lang="tr-TR"/>
              <a:t>Manage environmental problems</a:t>
            </a:r>
          </a:p>
          <a:p>
            <a:r>
              <a:rPr lang="tr-TR"/>
              <a:t>Emphasises AfCFTA opportunities </a:t>
            </a:r>
          </a:p>
          <a:p>
            <a:r>
              <a:rPr lang="tr-TR"/>
              <a:t>Enhancing Co-Operations for gold production</a:t>
            </a:r>
          </a:p>
          <a:p>
            <a:r>
              <a:rPr lang="tr-TR"/>
              <a:t>New </a:t>
            </a:r>
            <a:r>
              <a:rPr lang="tr-TR" err="1"/>
              <a:t>Markets</a:t>
            </a:r>
          </a:p>
          <a:p>
            <a:r>
              <a:rPr lang="tr-TR"/>
              <a:t>New </a:t>
            </a:r>
            <a:r>
              <a:rPr lang="tr-TR" err="1"/>
              <a:t>alliances</a:t>
            </a:r>
            <a:r>
              <a:rPr lang="tr-TR"/>
              <a:t> </a:t>
            </a:r>
            <a:r>
              <a:rPr lang="tr-TR" err="1"/>
              <a:t>Co</a:t>
            </a:r>
            <a:r>
              <a:rPr lang="tr-TR"/>
              <a:t>-Operations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AECF090-2815-15A2-84FD-353B884248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3926" y="1846729"/>
            <a:ext cx="3631282" cy="3648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550537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EACD29F7-1B46-FE6F-8D0F-B77247B204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tr-TR" err="1"/>
              <a:t>Proposed</a:t>
            </a:r>
            <a:r>
              <a:rPr lang="tr-TR"/>
              <a:t> Solutions </a:t>
            </a:r>
            <a:r>
              <a:rPr lang="tr-TR" err="1"/>
              <a:t>For</a:t>
            </a:r>
            <a:r>
              <a:rPr lang="tr-TR"/>
              <a:t> Country Base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646DCD24-E102-8732-FEF9-FB6448C82F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734" y="1575105"/>
            <a:ext cx="5285983" cy="292128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tr-TR" err="1"/>
              <a:t>For</a:t>
            </a:r>
            <a:r>
              <a:rPr lang="tr-TR"/>
              <a:t> </a:t>
            </a:r>
            <a:r>
              <a:rPr lang="tr-TR" err="1"/>
              <a:t>Ghana's</a:t>
            </a:r>
            <a:r>
              <a:rPr lang="tr-TR"/>
              <a:t> </a:t>
            </a:r>
            <a:r>
              <a:rPr lang="tr-TR" err="1"/>
              <a:t>perspective</a:t>
            </a:r>
            <a:r>
              <a:rPr lang="tr-TR"/>
              <a:t>:</a:t>
            </a:r>
          </a:p>
          <a:p>
            <a:r>
              <a:rPr lang="tr-TR" err="1"/>
              <a:t>Tighten</a:t>
            </a:r>
            <a:r>
              <a:rPr lang="tr-TR"/>
              <a:t> </a:t>
            </a:r>
            <a:r>
              <a:rPr lang="tr-TR" err="1"/>
              <a:t>current</a:t>
            </a:r>
            <a:r>
              <a:rPr lang="tr-TR"/>
              <a:t> </a:t>
            </a:r>
            <a:r>
              <a:rPr lang="tr-TR" err="1"/>
              <a:t>mining</a:t>
            </a:r>
            <a:r>
              <a:rPr lang="tr-TR"/>
              <a:t> </a:t>
            </a:r>
            <a:r>
              <a:rPr lang="tr-TR" err="1"/>
              <a:t>policies</a:t>
            </a:r>
            <a:endParaRPr lang="tr-TR"/>
          </a:p>
          <a:p>
            <a:r>
              <a:rPr lang="tr-TR"/>
              <a:t>Cost-conservative measures</a:t>
            </a:r>
          </a:p>
          <a:p>
            <a:r>
              <a:rPr lang="tr-TR"/>
              <a:t>Ecological Principles</a:t>
            </a:r>
          </a:p>
          <a:p>
            <a:r>
              <a:rPr lang="tr-TR" err="1"/>
              <a:t>Distribute</a:t>
            </a:r>
            <a:r>
              <a:rPr lang="tr-TR"/>
              <a:t> </a:t>
            </a:r>
            <a:r>
              <a:rPr lang="tr-TR" err="1"/>
              <a:t>acroos</a:t>
            </a:r>
            <a:r>
              <a:rPr lang="tr-TR"/>
              <a:t> </a:t>
            </a:r>
            <a:r>
              <a:rPr lang="tr-TR" err="1"/>
              <a:t>more</a:t>
            </a:r>
            <a:r>
              <a:rPr lang="tr-TR"/>
              <a:t> </a:t>
            </a:r>
            <a:r>
              <a:rPr lang="tr-TR" err="1"/>
              <a:t>Region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8487744-C2AE-7665-BB61-5C268F4D18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6853" y="3596995"/>
            <a:ext cx="4779029" cy="3180227"/>
          </a:xfrm>
          <a:prstGeom prst="rect">
            <a:avLst/>
          </a:prstGeom>
        </p:spPr>
      </p:pic>
      <p:sp>
        <p:nvSpPr>
          <p:cNvPr id="7" name="İçerik Yer Tutucusu 2">
            <a:extLst>
              <a:ext uri="{FF2B5EF4-FFF2-40B4-BE49-F238E27FC236}">
                <a16:creationId xmlns:a16="http://schemas.microsoft.com/office/drawing/2014/main" id="{3198BFAF-8BE8-47EA-2134-364100BD139C}"/>
              </a:ext>
            </a:extLst>
          </p:cNvPr>
          <p:cNvSpPr txBox="1">
            <a:spLocks/>
          </p:cNvSpPr>
          <p:nvPr/>
        </p:nvSpPr>
        <p:spPr>
          <a:xfrm>
            <a:off x="4603876" y="1186094"/>
            <a:ext cx="5285983" cy="292128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3" charset="2"/>
              <a:buNone/>
            </a:pPr>
            <a:endParaRPr lang="tr-TR"/>
          </a:p>
          <a:p>
            <a:pPr marL="0" indent="0">
              <a:buNone/>
            </a:pPr>
            <a:r>
              <a:rPr lang="tr-TR" sz="1800"/>
              <a:t>For South Africa's perspective: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tr-TR" sz="1800"/>
              <a:t>Upgrade mining industry base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tr-TR" sz="1800"/>
              <a:t>Solve labor problems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tr-TR" sz="1800"/>
              <a:t>Clear policy related with foreign investment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tr-TR" sz="1800"/>
              <a:t>Make plans and structures</a:t>
            </a:r>
          </a:p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22822132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İçerik Yer Tutucusu 3" descr="saat, metin, yazı tipi, kol saati içeren bir resim&#10;&#10;Yapay zeka tarafından oluşturulan içerik yanlış olabilir.">
            <a:extLst>
              <a:ext uri="{FF2B5EF4-FFF2-40B4-BE49-F238E27FC236}">
                <a16:creationId xmlns:a16="http://schemas.microsoft.com/office/drawing/2014/main" id="{5092EF7B-30B1-09CC-C4D6-8A5F0FD8729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66" y="2360"/>
            <a:ext cx="12188867" cy="6849649"/>
          </a:xfrm>
        </p:spPr>
      </p:pic>
    </p:spTree>
    <p:extLst>
      <p:ext uri="{BB962C8B-B14F-4D97-AF65-F5344CB8AC3E}">
        <p14:creationId xmlns:p14="http://schemas.microsoft.com/office/powerpoint/2010/main" val="274792420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Yellow">
      <a:dk1>
        <a:sysClr val="windowText" lastClr="000000"/>
      </a:dk1>
      <a:lt1>
        <a:sysClr val="window" lastClr="FFFFFF"/>
      </a:lt1>
      <a:dk2>
        <a:srgbClr val="39302A"/>
      </a:dk2>
      <a:lt2>
        <a:srgbClr val="E5DEDB"/>
      </a:lt2>
      <a:accent1>
        <a:srgbClr val="FFCA08"/>
      </a:accent1>
      <a:accent2>
        <a:srgbClr val="F8931D"/>
      </a:accent2>
      <a:accent3>
        <a:srgbClr val="CE8D3E"/>
      </a:accent3>
      <a:accent4>
        <a:srgbClr val="EC7016"/>
      </a:accent4>
      <a:accent5>
        <a:srgbClr val="E64823"/>
      </a:accent5>
      <a:accent6>
        <a:srgbClr val="9C6A6A"/>
      </a:accent6>
      <a:hlink>
        <a:srgbClr val="2998E3"/>
      </a:hlink>
      <a:folHlink>
        <a:srgbClr val="7F723D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Application>Microsoft Office PowerPoint</Application>
  <PresentationFormat>Widescreen</PresentationFormat>
  <Slides>24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5" baseType="lpstr">
      <vt:lpstr>Facet</vt:lpstr>
      <vt:lpstr> </vt:lpstr>
      <vt:lpstr>  Project Details</vt:lpstr>
      <vt:lpstr>Ghana’s and South Africa’s Trade through the Years with Evolution</vt:lpstr>
      <vt:lpstr>South Africa's 2020 Trade list</vt:lpstr>
      <vt:lpstr>2020 Ghana's Trade Table</vt:lpstr>
      <vt:lpstr>Impact Of Covid-19 Gold Mines</vt:lpstr>
      <vt:lpstr>Trade Partners For South Africa</vt:lpstr>
      <vt:lpstr>Trade Partners For Ghana </vt:lpstr>
      <vt:lpstr>History Of Ghana first mine fields</vt:lpstr>
      <vt:lpstr>Ghana's Gold Mines Current Technology</vt:lpstr>
      <vt:lpstr>TARKWA And AKYEM Gold Mines</vt:lpstr>
      <vt:lpstr>Current Gold Mines Equipment And Practices In Ghana</vt:lpstr>
      <vt:lpstr>Challanges In Ghana's Mines</vt:lpstr>
      <vt:lpstr>Ghana'sTrade Union and Environmental Challenges In Gold Industry</vt:lpstr>
      <vt:lpstr>Historical Mine Fields In South Africa</vt:lpstr>
      <vt:lpstr>Analyses Witwaters Basin Gold Mine</vt:lpstr>
      <vt:lpstr>Mining Activities Current South Africa</vt:lpstr>
      <vt:lpstr>Problems Employees Facing In South Africa Mines</vt:lpstr>
      <vt:lpstr>Covid-19 Effects on South Africa Gold Mine</vt:lpstr>
      <vt:lpstr>Chanllenges For Both Countries  </vt:lpstr>
      <vt:lpstr>Member And Sustainability AfCFTA</vt:lpstr>
      <vt:lpstr>Strategies For Both Country</vt:lpstr>
      <vt:lpstr>Proposed Solutions For Country Base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PRINCE PATEL</dc:creator>
  <cp:revision>1</cp:revision>
  <dcterms:created xsi:type="dcterms:W3CDTF">2025-01-17T22:39:06Z</dcterms:created>
  <dcterms:modified xsi:type="dcterms:W3CDTF">2025-01-19T16:17:33Z</dcterms:modified>
</cp:coreProperties>
</file>